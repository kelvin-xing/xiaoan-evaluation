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要分享的是我如何設計評估系統，不是展示哪個模型排名第一。我把評估設計成三個問題：這次執行是否可信、回應是否符合任務與安全要求、下一個改動要在哪裡驗證。投影片基於目前README和v2修復；所有數字例子是合成示例，測試通過數是軟體回歸結果，不是真實模型成績。主線約30分鐘，最後六頁供技術問答。
本頁要傳達：讓每個分數，都能回到案例、證據與下一步。
來源：https://github.com/Kelvin-xing/Xiaoan-evaluation/blob/master/README.md#design
所有範例均為合成示例；軟體測試不代表模型品質結果。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建立評估的用途。單一平均分可以告訴我們數字升降，卻未必能告訴我們發生什麼。這套系統要求先驗證執行、再測回應、最後把finding轉成可驗證假設。例如timeout應修transport，context缺事實應查資料，Judge分歧應查評分規則。這三條不能直接被一個高分或低分取代。
本頁要傳達：分數是診斷的入口；改動必須接受新的驗證。
來源：https://github.com/Kelvin-xing/Xiaoan-evaluation/blob/master/README.md#design
所有範例均為合成示例；軟體測試不代表模型品質結果。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ion是對單一已部署的Chatflow做端到端測試。evaluation_multimodels則讓不同subject產生答案，再讓不同Judge看同一份答案。兩套共用測量概念，但輸出schema和執行編排不同。它們目前仍是兩份獨立package，import和CLI同名，所以必須使用獨立virtualenv。共用核心去重是後續維護工作，不宣稱已完成。
本頁要傳達：先固定評估對象，才能解讀比較結果。
來源：https://github.com/Kelvin-xing/Xiaoan-evaluation/blob/master/README.md#design
所有範例均為合成示例；軟體測試不代表模型品質結果。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三層是不同測量，不是把所有分數相加。第一層問資料是否可信及是否有已知違規。第二層需要批准的oracle，問是否符合這次任務。第三層才是語氣、行動賦權、法律和資源等品質。Weighted_Total只概括第三層。安全違規不能用表達好補回來，資料缺失也不能用零分懲罰模型。
本頁要傳達：Weighted_Total 只概括品質，不能替代可靠性與安全。
來源：https://github.com/Kelvin-xing/Xiaoan-evaluation/blob/master/README.md#design
所有範例均為合成示例；軟體測試不代表模型品質結果。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從case和manifest開始，Runner執行實際系統並保留答案與trace。確定性檢查負責可以由程式判定的部分；Judge負責需要語義判斷的部分。結果進正規化facts和ReportModel，再生成Excel與Markdown，避免兩種報告自行算出兩種數字。人評也回到同一資料模型，保留automatic、human和final來源，而不是改掉原始自動評分。
本頁要傳達：每個 finding 要能追到 case → turn → metric → evidence。
來源：https://github.com/Kelvin-xing/Xiaoan-evaluation/blob/master/README.md#architecture
所有範例均為合成示例；軟體測試不代表模型品質結果。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多輪評估最重要的是保持狀態。對話中上一輪影響下一輪，所以同case不能平行發送。独立case可以並行，默认是2。ordinary是在每輪回覆後評審，不是整批答案先凍結的兩階段模式。若其中一輪缺失，整案品質不可用；不能只平均成功輪次，否則越容易timeout的系統反而可能得到漂亮的平均分。
本頁要傳達：並行提升吞吐，不能破壞對話狀態與完整性。
來源：https://github.com/Kelvin-xing/Xiaoan-evaluation/blob/master/README.md#architecture
所有範例均為合成示例；軟體測試不代表模型品質結果。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如果每個Judge都重新呼叫subject生成答案，我們就分不清差異來自生成還是評審。所以matrix設計一個barrier，先讓subject phase完成或不可用，再評同一批immutable answer artifacts。Checkpoint也綁契約和identity。這讓同一answer上的Judge差異有可比性，但還不等於Judge已校準，也不保證不同subject都有相同panel。
本頁要傳達：固定被評對象，才能測量評審差異。
來源：https://github.com/Kelvin-xing/Xiaoan-evaluation/blob/master/README.md#architecture
所有範例均為合成示例；軟體測試不代表模型品質結果。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cle不一定是一段唯一標準答案。對支持型agent，更合理的是可接受的路由集合、必須照顧的要求和不能做的行為。Case是情境，oracle是判斷條件，trace是觀測。沒有oracle時不能把沒有標籤算成答錯；只有trace時也不能把系統自己的判斷當成金標。新oracle需要領域審閱，不能由我們寫好YAML就自動批准。
本頁要傳達：空 oracle 是未測量，不是模型答錯。
來源：https://github.com/Kelvin-xing/Xiaoan-evaluation/blob/master/README.md#cases
所有範例均為合成示例；軟體測試不代表模型品質結果。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這三種狀態分開控制資料的可信程度。Reviewed表示oracle已有審閱標記，但不代表所有情境的聚合都獲准。Scenario score另要求Approved Aggregate和可比分組。目前74案都是Reviewed而非Approved Aggregate，因此不能說正式scenario rollup已具备完整分母。這是檔案標記盤點，不是我今天完成了74次人工評審。
本頁要傳達：不讓草案或未批准分母，悄悄變成正式結論。
來源：https://github.com/Kelvin-xing/Xiaoan-evaluation/blob/master/README.md#cases
所有範例均為合成示例；軟體測試不代表模型品質結果。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這頁是最需要團隊一起看清楚的限制。74案、217輪提供了不少情境，但非空route oracle只有4輪，safety只有24輪，response oracle為0，memory只有6個use。這些不同單元不能混在一起報一個覆蓋率。本次補九份草案：TC17和52的response提案，加上其他七類memory提案。它們沒有自動批准，也沒有自動加入正式集。下一步不是宣称全部覆蓋，而是安排reviewer和harness。
本頁要傳達：報告同時展示 authored 與 reviewed，讓缺口可見。
來源：https://github.com/Kelvin-xing/Xiaoan-evaluation/blob/master/README.md#cases
所有範例均為合成示例；軟體測試不代表模型品質結果。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過去PASS混用了正常執行與品質合格。v2把execution_status與quality_verdict拆開。沒有品質threshold時即使3分也不自動PASS；缺失則quality null，不能進品質平均。已知紅線和缺失可以同時存在，安全FAIL仍保留，但整案品質可能不可用。這頁的0和null差別是整個框架的核心：零代表有觀察且得零，null代表無法給可信數值。
本頁要傳達：排除 timeout 的品質假零分，但仍必須報告 timeout。
來源：https://github.com/Kelvin-xing/Xiaoan-evaluation/blob/master/README.md#status
所有範例均為合成示例；軟體測試不代表模型品質結果。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七維度沿用產品rubric，權重分別是22、18、18、13、9、9、11個百分點。逐維度只選0到3整數，聚合才會出現小數。紅線涵蓋安全對峙、錯誤法律資源、越界承諾、危機漏判、責難和歧視，不能靠其他維度補償。不過rubric還需要逐情境applicability和正反例，否則可能在情緒支持情境機械要求法律內容或鼓勵冗長。
本頁要傳達：高表達分，不能抵消安全違規。
來源：https://github.com/Kelvin-xing/Xiaoan-evaluation/blob/master/README.md#scoring
所有範例均為合成示例；軟體測試不代表模型品質結果。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一個極端但清楚的合成反例說明。只有行動賦權3分，其餘0，並聚焦行動賦權。基礎0.18乘1.5得0.27，所有權重總和變1.09，最後3乘0.27再除1.09，得到0.743119。所有七維度都要在分母裡。以前ordinary、matrix、suite分別得到不同數字；v2統一，連人工覆核和裁決也保存並使用原動態權重。
本頁要傳達：同一組評分事實，在哪條路徑都要得到同一個量。
來源：https://github.com/Kelvin-xing/Xiaoan-evaluation/blob/master/README.md#scoring
所有範例均為合成示例；軟體測試不代表模型品質結果。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先算case再平均，能讓長案例不自動獲得更多權重。這個例子case A平均1、case B平均3，case macro是2；直接平均四輪卻是1.5。兩個都可作統計，但不能混用同一名稱。Matrix cell總分選case macro，維度表則是診斷性的turn median。若case A缺其中一輪，就不能用剩餘輪次冒充完整case。分母不同要標清楚。
本頁要傳達：平均值之外，必须說清 unit、完整性與分母。
來源：https://github.com/Kelvin-xing/Xiaoan-evaluation/blob/master/README.md#scoring
所有範例均為合成示例；軟體測試不代表模型品質結果。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標要能指向下一個調查位置，但只能指出證據支持的候選原因。Route錯可能是oracle或state，不一定要調embedding；ground錯先修解析；unsupported高要看具體claim和evidence；Judge不同意可能是規則不清楚。這樣可避免看到低分就一律改prompt。每個修改要寫成hypothesis再驗證，不在報告中把相關當因果。
本頁要傳達：從最早有證據的失敗點，提出修正假設。
來源：https://github.com/Kelvin-xing/Xiaoan-evaluation/blob/master/README.md#metrics
所有範例均為合成示例；軟體測試不代表模型品質結果。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一個capsule被選中，只能證明route；出现在snapshot才能證明exposure；回答和證據的span關係才支持語義歸因；要說那段內容造成答案變化，必須介入。各layer support可以重疊，不能加成來源百分比分解。Partial的0.5是計分選擇，不是自然常數。Judge漏抽claim仍會抬高支持率，所以需要人工inventory和extraction recall。
本頁要傳達：Trace 讓過程可見；因果仍需要受控實驗。
來源：https://github.com/Kelvin-xing/Xiaoan-evaluation/blob/master/README.md#attribution
所有範例均為合成示例；軟體測試不代表模型品質結果。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之前ordinary把不同memory類型全當成必須使用，正確不用會被判錯。現在共用observer按類型判斷。缺memory_used欄位不是false，是unknown；明確空retrieved list和缺list也不同。通用布林flag是弱證據，per-fact use和session trace更強。但新增七類草案還需接通telemetry及多session harness，並不代表我們已驗證完整memory能力。
本頁要傳達：缺遙測 → SKIP；明確觀測失敗 → FAIL。
來源：https://github.com/Kelvin-xing/Xiaoan-evaluation/blob/master/README.md#memory
所有範例均為合成示例；軟體測試不代表模型品質結果。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這張是示意矩陣，不是實際結果。去掉同模型自評能減少一種偏差，但各subject也可能少了不同Judge，留下不同panel。Kendall W需要完整共同panel，去對角線後常不可用，不能靠插補制造完整性。所有評分一樣也不代表alpha=1；沒有預期分歧時alpha無法估計。正式效度要靠凍結人類benchmark、紅線漏判及held-out誤差，一致性只能描述。
本頁要傳達：Agreement 是描述證據；效度需要獨立人工錨點。
來源：https://github.com/Kelvin-xing/Xiaoan-evaluation/blob/master/README.md#matrix
所有範例均為合成示例；軟體測試不代表模型品質結果。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評不是在Excel隨便改總分。先輸出盲審packet，綁case/turn/response，完整填寫各維度和紅線證據後匯入。紅線分歧進裁決，選擇automatic或human的證據來源。最終分重新使用原動態權重與threshold計算，原分數不刪，其他未覆核case不變。原執行失敗也不能靠人工高分變成可用。v2還處理了原本覆核後結論不更新和錯誤未加權平均的問題。
本頁要傳達：可追溯地修正結果，不覆寫歷史或其他案例。
來源：https://github.com/Kelvin-xing/Xiaoan-evaluation/blob/master/README.md#review
所有範例均為合成示例；軟體測試不代表模型品質結果。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Excel和Markdown是同一份正規化資料的兩種讀法。先看版本與artifact state，再看可評樣本及oracle覆蓋，之後才看品質。找出問題後沿case/turn和evidence refs回查。Ordinary workbook是2.1固定十張表；matrix有自己的專用schema，不能拿matrix檔直接做人評或ordinary baseline。正式pair可能含敏感內容，正式不等於自動可以公開上傳。
本頁要傳達：可用樣本變少時，更高的平均分可能沒有可比性。
來源：https://github.com/Kelvin-xing/Xiaoan-evaluation/blob/master/README.md#reports
所有範例均為合成示例；軟體測試不代表模型品質結果。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我用EDD把評估接到產品改進。先記錄可重現失敗，再提出能被反駁的根因假設，固定case、model、knowledge snapshot和Judge，一次改一個變量。除了目標指標，还要看非目標退步與critical gate。現有預設是三個seeds，target pass-rate提升0.10、weighted提升0.15、非目標退步上限0.10、critical regression零容忍；這些是當前配置，不是研究確立的標準。
本頁要傳達：沒有受控證據之前，推薦仍是 hypothesis。
來源：https://github.com/Kelvin-xing/Xiaoan-evaluation/blob/master/README.md#experiments
所有範例均為合成示例；軟體測試不代表模型品質結果。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這批改動的重點是讓分數能信任，不是提高分數。還修了空route oracle分母、unsupported required claim、人工覆核的權重与结论，以及合法零分被truthiness误当missing。由於公式和schema升版，不能把v1和v2的分差直接當作模型改善。這些反例已轉成回歸測試，所以未來改程式時能檢查契約是否又漂移。
本頁要傳達：升版造成的數字變化，不等於模型能力提升。
來源：https://github.com/Kelvin-xing/Xiaoan-evaluation/blob/master/README.md#versions
所有範例均為合成示例；軟體測試不代表模型品質結果。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這頁避免把存在一個函式當作完成一種評估。Tools目前主要是名稱、參數、順序匹配，不能驗證外部世界狀態。Goal欄位目前比較預期與實際布林，不能直接稱完成率；steps更接近budget compliance。Pairwise helper沒有完整CLI。Statistical CI也未完整處理case內相關性。這些會写進README作为已知邊界，讓團隊能確定下一批投資應該在哪裡。
本頁要傳達：把未測到的地方寫出來，是評估可靠性的一部分。
來源：https://github.com/Kelvin-xing/Xiaoan-evaluation/blob/master/README.md#limits
所有範例均為合成示例；軟體測試不代表模型品質結果。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結束主線時，我希望團隊不是只記得公式，而是能分配下一步。領域同事要確認什麼任務算成功、必要和禁止內容及例外；工程同事把觀測接到實際系統，尤其memory的fact IDs和session隔離；評估同事負責人類benchmark、Judge尺度和共同panel。今天不要自動批准草案或選一個看起來最高的模型，而是先讓下一次比較有可信分母和證據。
本頁要傳達：討論焦點：誰批准 oracle、誰接 telemetry、哪個實驗先跑？
來源：https://github.com/Kelvin-xing/Xiaoan-evaluation/blob/master/README.md#limits
所有範例均為合成示例；軟體測試不代表模型品質結果。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問答時用這頁解釋各指標的分母。特别是unsupported不能只算extra，因為required但沒有支持仍是unsupported。Faithfulness只衡量模型已抽取claims對给定證據的支持；漏抽claim可能縮小分母。Required-claim匹配有string identity限制。這些詳細定義以README第6節及目前源碼為準，不把名稱相似的通用RAG指標直接替換現有契約。
本頁要傳達：每個 metric 都要有 unit、eligibility、denominator 與 evidence。
來源：https://github.com/Kelvin-xing/Xiaoan-evaluation/blob/master/README.md#metrics
所有範例均為合成示例；軟體測試不代表模型品質結果。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這頁是命令參數備查，不要直接把換行當成完整shell腳本，README有可複製的反斜線續行版本。執行前需要獨立virtualenv、真正部署的Chatflow、有效provider及本次manifest。Direct model模式把subject transport換成multimodel_transport即可，但測量對象也隨之改變。不要把matrix的PASS當成ordinary品質門檻PASS。
本頁要傳達：兩個 project 使用獨立 virtualenv；live run 需要真實 endpoint 與配置。
來源：https://github.com/Kelvin-xing/Xiaoan-evaluation/blob/master/README.md#usage
所有範例均為合成示例；軟體測試不代表模型品質結果。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版本需要包含被測系統和測量工具兩邊。只固定model卻改了knowledge或Judge prompt，分數就不一定可比。Manifest應反映本次真實配置，不能把repo的歷史hash照抄。Checkpoint同樣需要契約相容。兩套發行package目前核心有複製，所以本次也核對改動核心一致，並在standalone環境重跑完整測試。
本頁要傳達：model 名稱相同，不足以保證兩次評估可比。
來源：https://github.com/Kelvin-xing/Xiaoan-evaluation/blob/master/README.md#versions
所有範例均為合成示例；軟體測試不代表模型品質結果。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名稱有時比證據強，這是我們保留但明示的設計債。Expected false和actual false可以得到高goal agreement，卻不表示完成外部任務；在budget內快速失敗也可能得到高step分。工具呼叫匹配不等於工具結果。這次聚焦修復用戶選定的測量錯誤，沒有把這些legacy欄位悄悄宣稱為已完成outcome评估。
本頁要傳達：以實際公式與所需證據解讀，不按欄位名稱猜測。
來源：https://github.com/Kelvin-xing/Xiaoan-evaluation/blob/master/README.md#limits
所有範例均為合成示例；軟體測試不代表模型品質結果。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校準、比較和不確定性是三个不同問題。校準要有可信人標；公平比较需要共同case和panel；推論要考慮多輪同case相關，不能把每turn都當獨立樣本。現有bootstrap是turn級描述，正式推論需要cluster和paired設計。零紅線事件只說在這個樣本中沒觀察到，不是風險為零。
本頁要傳達：一致性、效度、可比性與不確定性，必須分別證明。
來源：https://github.com/Kelvin-xing/Xiaoan-evaluation/blob/master/README.md#review
所有範例均為合成示例；軟體測試不代表模型品質結果。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所有設計、公式與操作入口都在repo根README，來源研究與修改前審閱也保留。軟體驗證是248加292項，不是540個真實agent案例。舊2.0 workbook用修改前writer生成過並驗證可讀，缺權重重評會拒絕。投影片与逐頁講稿可以跟README一起版本化，日後設計變動從同一份基準更新。
本頁要傳達：一份設計基準，連起原始碼、報告與團隊討論。
來源：https://github.com/Kelvin-xing/Xiaoan-evaluation/blob/master/README.md#versions
所有範例均為合成示例；軟體測試不代表模型品質結果。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4389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8C6B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XIAOAN  /  FRAMEWORK DESIGN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94360" y="1389888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如何設計一個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能指導改進的 Agent 評估框架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12648" y="3529584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7E8E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從可追溯證據，到可驗證的產品改動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12648" y="4489704"/>
            <a:ext cx="10698480" cy="0"/>
          </a:xfrm>
          <a:prstGeom prst="line">
            <a:avLst/>
          </a:prstGeom>
          <a:noFill/>
          <a:ln w="12700">
            <a:solidFill>
              <a:srgbClr val="47717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2648" y="4818888"/>
            <a:ext cx="5257800" cy="274320"/>
          </a:xfrm>
          <a:prstGeom prst="rect">
            <a:avLst/>
          </a:prstGeom>
          <a:solidFill>
            <a:srgbClr val="285463"/>
          </a:solidFill>
          <a:ln w="7620">
            <a:solidFill>
              <a:srgbClr val="28546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4944" y="4841748"/>
            <a:ext cx="5093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E8E3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評分契約 v2 · 2026.09.13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12648" y="539496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2D4D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團隊分享｜24 頁主線 + 6 頁備查｜約 30 分鐘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12648" y="6236208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8C6B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EVIDENCE → MEASUREMENT → DECISION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 / WHY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09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評估的終點，是下一個可驗證的決定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28216"/>
            <a:ext cx="11109960" cy="0"/>
          </a:xfrm>
          <a:prstGeom prst="line">
            <a:avLst/>
          </a:prstGeom>
          <a:noFill/>
          <a:ln w="12700">
            <a:solidFill>
              <a:srgbClr val="D4DD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879592"/>
            <a:ext cx="50292" cy="41148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5888736"/>
            <a:ext cx="10899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分數是診斷的入口；改動必須接受新的驗證。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XIAOAN  /  EVALUATION DESIGN v2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0826496" y="6473952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02 / 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650138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README § design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502920" y="2011680"/>
            <a:ext cx="3569208" cy="3346704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3232" y="2240280"/>
            <a:ext cx="3148584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5528" y="2263140"/>
            <a:ext cx="2983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EXECUTION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13232" y="2862072"/>
            <a:ext cx="31485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這次能不能評？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713232" y="3840480"/>
            <a:ext cx="314858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預期輪次有沒有完成？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provider、Judge、證據是否可用？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4273296" y="2011680"/>
            <a:ext cx="3569208" cy="3346704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83608" y="2240280"/>
            <a:ext cx="3148584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65904" y="2263140"/>
            <a:ext cx="2983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MEASUREMENT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483608" y="2862072"/>
            <a:ext cx="31485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回應好在哪裡？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4483608" y="3840480"/>
            <a:ext cx="314858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安全、任務要求與七維度品質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必須有各自的判定依据。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8043672" y="2011680"/>
            <a:ext cx="3569208" cy="3346704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53984" y="2240280"/>
            <a:ext cx="3148584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36280" y="2263140"/>
            <a:ext cx="2983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DECISION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8253984" y="2862072"/>
            <a:ext cx="31485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接下來改什麼？</a:t>
            </a:r>
            <a:endParaRPr lang="en-US" sz="2300" dirty="0"/>
          </a:p>
        </p:txBody>
      </p:sp>
      <p:sp>
        <p:nvSpPr>
          <p:cNvPr id="26" name="Text 23"/>
          <p:cNvSpPr/>
          <p:nvPr/>
        </p:nvSpPr>
        <p:spPr>
          <a:xfrm>
            <a:off x="8253984" y="3840480"/>
            <a:ext cx="314858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先定位最早的失敗階段，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一次只改一個可控變量。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02 / SCOPE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09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兩套 evaluator，對應兩種研究問題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28216"/>
            <a:ext cx="11109960" cy="0"/>
          </a:xfrm>
          <a:prstGeom prst="line">
            <a:avLst/>
          </a:prstGeom>
          <a:noFill/>
          <a:ln w="12700">
            <a:solidFill>
              <a:srgbClr val="D4DD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879592"/>
            <a:ext cx="50292" cy="41148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5888736"/>
            <a:ext cx="10899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先固定評估對象，才能解讀比較結果。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XIAOAN  /  EVALUATION DESIGN v2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0826496" y="6473952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03 / 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650138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README § design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502920" y="1901952"/>
            <a:ext cx="2788920" cy="429768"/>
          </a:xfrm>
          <a:prstGeom prst="rect">
            <a:avLst/>
          </a:prstGeom>
          <a:solidFill>
            <a:srgbClr val="142B38"/>
          </a:solidFill>
          <a:ln w="7620">
            <a:solidFill>
              <a:srgbClr val="142B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19659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291840" y="1901952"/>
            <a:ext cx="3822192" cy="429768"/>
          </a:xfrm>
          <a:prstGeom prst="rect">
            <a:avLst/>
          </a:prstGeom>
          <a:solidFill>
            <a:srgbClr val="142B38"/>
          </a:solidFill>
          <a:ln w="7620">
            <a:solidFill>
              <a:srgbClr val="142B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29000" y="1965960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114032" y="1901952"/>
            <a:ext cx="4498848" cy="429768"/>
          </a:xfrm>
          <a:prstGeom prst="rect">
            <a:avLst/>
          </a:prstGeom>
          <a:solidFill>
            <a:srgbClr val="142B38"/>
          </a:solidFill>
          <a:ln w="7620">
            <a:solidFill>
              <a:srgbClr val="142B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51192" y="1965960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evaluation_multimodels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2331720"/>
            <a:ext cx="2788920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240487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對象</a:t>
            </a:r>
            <a:endParaRPr lang="en-US" sz="1530" dirty="0"/>
          </a:p>
        </p:txBody>
      </p:sp>
      <p:sp>
        <p:nvSpPr>
          <p:cNvPr id="20" name="Shape 17"/>
          <p:cNvSpPr/>
          <p:nvPr/>
        </p:nvSpPr>
        <p:spPr>
          <a:xfrm>
            <a:off x="3291840" y="2331720"/>
            <a:ext cx="3822192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29000" y="2404872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一個實際 Chatflow deployment</a:t>
            </a:r>
            <a:endParaRPr lang="en-US" sz="1530" dirty="0"/>
          </a:p>
        </p:txBody>
      </p:sp>
      <p:sp>
        <p:nvSpPr>
          <p:cNvPr id="22" name="Shape 19"/>
          <p:cNvSpPr/>
          <p:nvPr/>
        </p:nvSpPr>
        <p:spPr>
          <a:xfrm>
            <a:off x="7114032" y="2331720"/>
            <a:ext cx="4498848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251192" y="2404872"/>
            <a:ext cx="4224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多 Subject × 多 Judges</a:t>
            </a:r>
            <a:endParaRPr lang="en-US" sz="1530" dirty="0"/>
          </a:p>
        </p:txBody>
      </p:sp>
      <p:sp>
        <p:nvSpPr>
          <p:cNvPr id="24" name="Shape 21"/>
          <p:cNvSpPr/>
          <p:nvPr/>
        </p:nvSpPr>
        <p:spPr>
          <a:xfrm>
            <a:off x="502920" y="2999232"/>
            <a:ext cx="2788920" cy="667512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307238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主要問題</a:t>
            </a:r>
            <a:endParaRPr lang="en-US" sz="1530" dirty="0"/>
          </a:p>
        </p:txBody>
      </p:sp>
      <p:sp>
        <p:nvSpPr>
          <p:cNvPr id="26" name="Shape 23"/>
          <p:cNvSpPr/>
          <p:nvPr/>
        </p:nvSpPr>
        <p:spPr>
          <a:xfrm>
            <a:off x="3291840" y="2999232"/>
            <a:ext cx="3822192" cy="667512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29000" y="3072384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哪個 case／階段失敗？</a:t>
            </a:r>
            <a:endParaRPr lang="en-US" sz="1530" dirty="0"/>
          </a:p>
        </p:txBody>
      </p:sp>
      <p:sp>
        <p:nvSpPr>
          <p:cNvPr id="28" name="Shape 25"/>
          <p:cNvSpPr/>
          <p:nvPr/>
        </p:nvSpPr>
        <p:spPr>
          <a:xfrm>
            <a:off x="7114032" y="2999232"/>
            <a:ext cx="4498848" cy="667512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251192" y="3072384"/>
            <a:ext cx="4224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模型差異，還是 Judge 尺度差異？</a:t>
            </a:r>
            <a:endParaRPr lang="en-US" sz="1530" dirty="0"/>
          </a:p>
        </p:txBody>
      </p:sp>
      <p:sp>
        <p:nvSpPr>
          <p:cNvPr id="30" name="Shape 27"/>
          <p:cNvSpPr/>
          <p:nvPr/>
        </p:nvSpPr>
        <p:spPr>
          <a:xfrm>
            <a:off x="502920" y="3666744"/>
            <a:ext cx="2788920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0080" y="373989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流程</a:t>
            </a:r>
            <a:endParaRPr lang="en-US" sz="1530" dirty="0"/>
          </a:p>
        </p:txBody>
      </p:sp>
      <p:sp>
        <p:nvSpPr>
          <p:cNvPr id="32" name="Shape 29"/>
          <p:cNvSpPr/>
          <p:nvPr/>
        </p:nvSpPr>
        <p:spPr>
          <a:xfrm>
            <a:off x="3291840" y="3666744"/>
            <a:ext cx="3822192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429000" y="3739896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逐輪執行、檢查、評審</a:t>
            </a:r>
            <a:endParaRPr lang="en-US" sz="1530" dirty="0"/>
          </a:p>
        </p:txBody>
      </p:sp>
      <p:sp>
        <p:nvSpPr>
          <p:cNvPr id="34" name="Shape 31"/>
          <p:cNvSpPr/>
          <p:nvPr/>
        </p:nvSpPr>
        <p:spPr>
          <a:xfrm>
            <a:off x="7114032" y="3666744"/>
            <a:ext cx="4498848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251192" y="3739896"/>
            <a:ext cx="4224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先生成凍結答案，再交叉評審</a:t>
            </a:r>
            <a:endParaRPr lang="en-US" sz="1530" dirty="0"/>
          </a:p>
        </p:txBody>
      </p:sp>
      <p:sp>
        <p:nvSpPr>
          <p:cNvPr id="36" name="Shape 33"/>
          <p:cNvSpPr/>
          <p:nvPr/>
        </p:nvSpPr>
        <p:spPr>
          <a:xfrm>
            <a:off x="502920" y="4334256"/>
            <a:ext cx="2788920" cy="667512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0080" y="440740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輸出</a:t>
            </a:r>
            <a:endParaRPr lang="en-US" sz="1530" dirty="0"/>
          </a:p>
        </p:txBody>
      </p:sp>
      <p:sp>
        <p:nvSpPr>
          <p:cNvPr id="38" name="Shape 35"/>
          <p:cNvSpPr/>
          <p:nvPr/>
        </p:nvSpPr>
        <p:spPr>
          <a:xfrm>
            <a:off x="3291840" y="4334256"/>
            <a:ext cx="3822192" cy="667512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429000" y="4407408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正式 workbook / 人評 / baseline</a:t>
            </a:r>
            <a:endParaRPr lang="en-US" sz="1530" dirty="0"/>
          </a:p>
        </p:txBody>
      </p:sp>
      <p:sp>
        <p:nvSpPr>
          <p:cNvPr id="40" name="Shape 37"/>
          <p:cNvSpPr/>
          <p:nvPr/>
        </p:nvSpPr>
        <p:spPr>
          <a:xfrm>
            <a:off x="7114032" y="4334256"/>
            <a:ext cx="4498848" cy="667512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251192" y="4407408"/>
            <a:ext cx="4224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matrix / 原答案 / Judge cells</a:t>
            </a:r>
            <a:endParaRPr lang="en-US" sz="1530" dirty="0"/>
          </a:p>
        </p:txBody>
      </p:sp>
      <p:sp>
        <p:nvSpPr>
          <p:cNvPr id="42" name="Shape 39"/>
          <p:cNvSpPr/>
          <p:nvPr/>
        </p:nvSpPr>
        <p:spPr>
          <a:xfrm>
            <a:off x="502920" y="5001768"/>
            <a:ext cx="2788920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0080" y="50749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共同核心</a:t>
            </a:r>
            <a:endParaRPr lang="en-US" sz="1530" dirty="0"/>
          </a:p>
        </p:txBody>
      </p:sp>
      <p:sp>
        <p:nvSpPr>
          <p:cNvPr id="44" name="Shape 41"/>
          <p:cNvSpPr/>
          <p:nvPr/>
        </p:nvSpPr>
        <p:spPr>
          <a:xfrm>
            <a:off x="3291840" y="5001768"/>
            <a:ext cx="3822192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429000" y="5074920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v2 scoring、oracle、狀態、metrics</a:t>
            </a:r>
            <a:endParaRPr lang="en-US" sz="1530" dirty="0"/>
          </a:p>
        </p:txBody>
      </p:sp>
      <p:sp>
        <p:nvSpPr>
          <p:cNvPr id="46" name="Shape 43"/>
          <p:cNvSpPr/>
          <p:nvPr/>
        </p:nvSpPr>
        <p:spPr>
          <a:xfrm>
            <a:off x="7114032" y="5001768"/>
            <a:ext cx="4498848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251192" y="5074920"/>
            <a:ext cx="4224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相同契約；目前仍是兩份 package</a:t>
            </a:r>
            <a:endParaRPr lang="en-US" sz="15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03 / MEASUREMENT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09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把評估拆成三層，避免用高分掩蓋問題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28216"/>
            <a:ext cx="11109960" cy="0"/>
          </a:xfrm>
          <a:prstGeom prst="line">
            <a:avLst/>
          </a:prstGeom>
          <a:noFill/>
          <a:ln w="12700">
            <a:solidFill>
              <a:srgbClr val="D4DD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879592"/>
            <a:ext cx="50292" cy="41148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5888736"/>
            <a:ext cx="10899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Weighted_Total 只概括品質，不能替代可靠性與安全。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XIAOAN  /  EVALUATION DESIGN v2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0826496" y="6473952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04 / 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650138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README § design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502920" y="1938528"/>
            <a:ext cx="11109960" cy="1024128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4088" y="2139696"/>
            <a:ext cx="667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</a:t>
            </a:r>
            <a:endParaRPr lang="en-US" sz="2900" dirty="0"/>
          </a:p>
        </p:txBody>
      </p:sp>
      <p:sp>
        <p:nvSpPr>
          <p:cNvPr id="14" name="Text 11"/>
          <p:cNvSpPr/>
          <p:nvPr/>
        </p:nvSpPr>
        <p:spPr>
          <a:xfrm>
            <a:off x="1572768" y="2075688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執行與安全門檻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5833872" y="2112264"/>
            <a:ext cx="5404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完整輪次、必要 trace、provider/Judge、已知紅線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02920" y="3145536"/>
            <a:ext cx="11109960" cy="1024128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4088" y="3346704"/>
            <a:ext cx="667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02</a:t>
            </a:r>
            <a:endParaRPr lang="en-US" sz="2900" dirty="0"/>
          </a:p>
        </p:txBody>
      </p:sp>
      <p:sp>
        <p:nvSpPr>
          <p:cNvPr id="18" name="Text 15"/>
          <p:cNvSpPr/>
          <p:nvPr/>
        </p:nvSpPr>
        <p:spPr>
          <a:xfrm>
            <a:off x="1572768" y="3282696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批准 oracle 的任務符合度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5833872" y="3319272"/>
            <a:ext cx="5404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risk、route、必要內容、禁止行為、memory checkpoint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02920" y="4352544"/>
            <a:ext cx="11109960" cy="1024128"/>
          </a:xfrm>
          <a:prstGeom prst="rect">
            <a:avLst/>
          </a:prstGeom>
          <a:solidFill>
            <a:srgbClr val="E2EFEB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4088" y="4553712"/>
            <a:ext cx="667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03</a:t>
            </a:r>
            <a:endParaRPr lang="en-US" sz="2900" dirty="0"/>
          </a:p>
        </p:txBody>
      </p:sp>
      <p:sp>
        <p:nvSpPr>
          <p:cNvPr id="22" name="Text 19"/>
          <p:cNvSpPr/>
          <p:nvPr/>
        </p:nvSpPr>
        <p:spPr>
          <a:xfrm>
            <a:off x="1572768" y="4489704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有證據的品質判斷</a:t>
            </a:r>
            <a:endParaRPr lang="en-US" sz="2300" dirty="0"/>
          </a:p>
        </p:txBody>
      </p:sp>
      <p:sp>
        <p:nvSpPr>
          <p:cNvPr id="23" name="Text 20"/>
          <p:cNvSpPr/>
          <p:nvPr/>
        </p:nvSpPr>
        <p:spPr>
          <a:xfrm>
            <a:off x="5833872" y="4526280"/>
            <a:ext cx="5404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七維度 0–3、focus 動態權重、人工與 Judge 來源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04 /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09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一條能追回證據的資料流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28216"/>
            <a:ext cx="11109960" cy="0"/>
          </a:xfrm>
          <a:prstGeom prst="line">
            <a:avLst/>
          </a:prstGeom>
          <a:noFill/>
          <a:ln w="12700">
            <a:solidFill>
              <a:srgbClr val="D4DD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879592"/>
            <a:ext cx="50292" cy="41148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5888736"/>
            <a:ext cx="10899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每個 finding 要能追到 case → turn → metric → evidence。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XIAOAN  /  EVALUATION DESIGN v2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0826496" y="6473952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05 / 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650138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README § architecture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502920" y="2075688"/>
            <a:ext cx="384048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" y="209854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2569464"/>
            <a:ext cx="1714500" cy="1828800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2569464"/>
            <a:ext cx="1714500" cy="50292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2648" y="2779776"/>
            <a:ext cx="1495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Case / Manifest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21792" y="3575304"/>
            <a:ext cx="14767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情境・版本・oracle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217420" y="31089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›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2382012" y="2075688"/>
            <a:ext cx="384048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464308" y="209854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02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2382012" y="2569464"/>
            <a:ext cx="1714500" cy="1828800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382012" y="2569464"/>
            <a:ext cx="1714500" cy="50292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491740" y="2779776"/>
            <a:ext cx="1495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Runner / Adapter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500884" y="3575304"/>
            <a:ext cx="14767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順序 turns / 狀態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096512" y="31089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›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4261104" y="2075688"/>
            <a:ext cx="384048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343400" y="209854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03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261104" y="2569464"/>
            <a:ext cx="1714500" cy="1828800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261104" y="2569464"/>
            <a:ext cx="1714500" cy="50292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370832" y="2779776"/>
            <a:ext cx="1495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Answer + Trace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4379976" y="3575304"/>
            <a:ext cx="14767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原文・錯誤・snapshot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975604" y="31089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›</a:t>
            </a:r>
            <a:endParaRPr lang="en-US" sz="2400" dirty="0"/>
          </a:p>
        </p:txBody>
      </p:sp>
      <p:sp>
        <p:nvSpPr>
          <p:cNvPr id="33" name="Shape 30"/>
          <p:cNvSpPr/>
          <p:nvPr/>
        </p:nvSpPr>
        <p:spPr>
          <a:xfrm>
            <a:off x="6140196" y="2075688"/>
            <a:ext cx="384048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222492" y="209854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04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140196" y="2569464"/>
            <a:ext cx="1714500" cy="1828800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140196" y="2569464"/>
            <a:ext cx="1714500" cy="50292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49924" y="2779776"/>
            <a:ext cx="1495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Rules + Judges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259068" y="3575304"/>
            <a:ext cx="14767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確定性 / 語義檢查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7854696" y="31089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›</a:t>
            </a:r>
            <a:endParaRPr lang="en-US" sz="2400" dirty="0"/>
          </a:p>
        </p:txBody>
      </p:sp>
      <p:sp>
        <p:nvSpPr>
          <p:cNvPr id="40" name="Shape 37"/>
          <p:cNvSpPr/>
          <p:nvPr/>
        </p:nvSpPr>
        <p:spPr>
          <a:xfrm>
            <a:off x="8019288" y="2075688"/>
            <a:ext cx="384048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101584" y="209854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05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8019288" y="2569464"/>
            <a:ext cx="1714500" cy="1828800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019288" y="2569464"/>
            <a:ext cx="1714500" cy="50292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129016" y="2779776"/>
            <a:ext cx="1495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Normalized facts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8138160" y="3575304"/>
            <a:ext cx="14767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狀態・權重・来源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9733788" y="31089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›</a:t>
            </a:r>
            <a:endParaRPr lang="en-US" sz="2400" dirty="0"/>
          </a:p>
        </p:txBody>
      </p:sp>
      <p:sp>
        <p:nvSpPr>
          <p:cNvPr id="47" name="Shape 44"/>
          <p:cNvSpPr/>
          <p:nvPr/>
        </p:nvSpPr>
        <p:spPr>
          <a:xfrm>
            <a:off x="9898380" y="2075688"/>
            <a:ext cx="384048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980676" y="209854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06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9898380" y="2569464"/>
            <a:ext cx="1714500" cy="1828800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9898380" y="2569464"/>
            <a:ext cx="1714500" cy="50292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0008108" y="2779776"/>
            <a:ext cx="1495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XLSX + Report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10017252" y="3575304"/>
            <a:ext cx="14767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同一份正式資料</a:t>
            </a:r>
            <a:endParaRPr lang="en-US" sz="1300" dirty="0"/>
          </a:p>
        </p:txBody>
      </p:sp>
      <p:sp>
        <p:nvSpPr>
          <p:cNvPr id="53" name="Shape 50"/>
          <p:cNvSpPr/>
          <p:nvPr/>
        </p:nvSpPr>
        <p:spPr>
          <a:xfrm>
            <a:off x="502920" y="4773168"/>
            <a:ext cx="11109960" cy="667512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13232" y="4864608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人工覆核／裁決 → 保存原權重與來源 → 重算 final verdict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05 / 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09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Ordinary：跨案例並行，同一對話保持順序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28216"/>
            <a:ext cx="11109960" cy="0"/>
          </a:xfrm>
          <a:prstGeom prst="line">
            <a:avLst/>
          </a:prstGeom>
          <a:noFill/>
          <a:ln w="12700">
            <a:solidFill>
              <a:srgbClr val="D4DD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879592"/>
            <a:ext cx="50292" cy="41148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5888736"/>
            <a:ext cx="10899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並行提升吞吐，不能破壞對話狀態與完整性。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XIAOAN  /  EVALUATION DESIGN v2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0826496" y="6473952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06 / 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650138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README § architecture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502920" y="2011680"/>
            <a:ext cx="1143000" cy="274320"/>
          </a:xfrm>
          <a:prstGeom prst="rect">
            <a:avLst/>
          </a:prstGeom>
          <a:solidFill>
            <a:srgbClr val="142B38"/>
          </a:solidFill>
          <a:ln w="7620">
            <a:solidFill>
              <a:srgbClr val="142B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" y="2034540"/>
            <a:ext cx="978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Case A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847088" y="2011680"/>
            <a:ext cx="3072384" cy="75895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975104" y="2148840"/>
            <a:ext cx="2788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T1 → 檢查／Judge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5111496" y="2011680"/>
            <a:ext cx="3072384" cy="75895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39512" y="2148840"/>
            <a:ext cx="2788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T2 → 檢查／Judge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8375904" y="2011680"/>
            <a:ext cx="3072384" cy="75895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03920" y="2148840"/>
            <a:ext cx="2788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T3 → 完整 case score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502920" y="3154680"/>
            <a:ext cx="1143000" cy="274320"/>
          </a:xfrm>
          <a:prstGeom prst="rect">
            <a:avLst/>
          </a:prstGeom>
          <a:solidFill>
            <a:srgbClr val="142B38"/>
          </a:solidFill>
          <a:ln w="7620">
            <a:solidFill>
              <a:srgbClr val="142B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5216" y="3177540"/>
            <a:ext cx="978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Case B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1847088" y="3154680"/>
            <a:ext cx="3072384" cy="75895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975104" y="3291840"/>
            <a:ext cx="2788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T1 → 檢查／Judge</a:t>
            </a:r>
            <a:endParaRPr lang="en-US" sz="1650" dirty="0"/>
          </a:p>
        </p:txBody>
      </p:sp>
      <p:sp>
        <p:nvSpPr>
          <p:cNvPr id="24" name="Shape 21"/>
          <p:cNvSpPr/>
          <p:nvPr/>
        </p:nvSpPr>
        <p:spPr>
          <a:xfrm>
            <a:off x="5111496" y="3154680"/>
            <a:ext cx="3072384" cy="75895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239512" y="3291840"/>
            <a:ext cx="2788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T2 → 完整 case score</a:t>
            </a:r>
            <a:endParaRPr lang="en-US" sz="1650" dirty="0"/>
          </a:p>
        </p:txBody>
      </p:sp>
      <p:sp>
        <p:nvSpPr>
          <p:cNvPr id="26" name="Shape 23"/>
          <p:cNvSpPr/>
          <p:nvPr/>
        </p:nvSpPr>
        <p:spPr>
          <a:xfrm>
            <a:off x="8375904" y="3154680"/>
            <a:ext cx="3072384" cy="75895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503920" y="3291840"/>
            <a:ext cx="2788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可獨立完成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576072" y="4553712"/>
            <a:ext cx="10972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CLI 預設 case concurrency = 2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576072" y="4873752"/>
            <a:ext cx="10972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每個 case 建立自己的 conversation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576072" y="5193792"/>
            <a:ext cx="10972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缺輪或必要評分缺失，不用剩餘輪次冒充整案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06 / MATRIX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09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Matrix：先凍結答案，再讓不同 Judge 評同一份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28216"/>
            <a:ext cx="11109960" cy="0"/>
          </a:xfrm>
          <a:prstGeom prst="line">
            <a:avLst/>
          </a:prstGeom>
          <a:noFill/>
          <a:ln w="12700">
            <a:solidFill>
              <a:srgbClr val="D4DD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879592"/>
            <a:ext cx="50292" cy="41148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5888736"/>
            <a:ext cx="10899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固定被評對象，才能測量評審差異。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XIAOAN  /  EVALUATION DESIGN v2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0826496" y="6473952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07 / 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650138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README § architecture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502920" y="2011680"/>
            <a:ext cx="5440680" cy="351129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2231136"/>
            <a:ext cx="4983480" cy="274320"/>
          </a:xfrm>
          <a:prstGeom prst="rect">
            <a:avLst/>
          </a:prstGeom>
          <a:solidFill>
            <a:srgbClr val="142B38"/>
          </a:solidFill>
          <a:ln w="7620">
            <a:solidFill>
              <a:srgbClr val="142B3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3816" y="2253996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PHASE A / SUBJECTS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31520" y="2907792"/>
            <a:ext cx="301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271016" y="2880360"/>
            <a:ext cx="4325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同一 case 的多個 subject lanes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31520" y="3602736"/>
            <a:ext cx="301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271016" y="3575304"/>
            <a:ext cx="4325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保留 answer identity、原文、trace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31520" y="4297680"/>
            <a:ext cx="301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1271016" y="4270248"/>
            <a:ext cx="4325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等待全批完成或標記 UNAVAILABLE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172200" y="2011680"/>
            <a:ext cx="5440680" cy="3511296"/>
          </a:xfrm>
          <a:prstGeom prst="rect">
            <a:avLst/>
          </a:prstGeom>
          <a:solidFill>
            <a:srgbClr val="E2EFEB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0" y="2231136"/>
            <a:ext cx="4983480" cy="27432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83096" y="2253996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PHASE B / JUDGES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400800" y="2907792"/>
            <a:ext cx="301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6940296" y="2880360"/>
            <a:ext cx="4325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每份固定答案交給多個 Judges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400800" y="3602736"/>
            <a:ext cx="301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6940296" y="3575304"/>
            <a:ext cx="4325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保留各自分數、紅線、錯誤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400800" y="4297680"/>
            <a:ext cx="301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3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6940296" y="4270248"/>
            <a:ext cx="4325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完整 case 聚合 + 自評標記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07 / TEST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09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Case、Oracle、Trace 各有一個責任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28216"/>
            <a:ext cx="11109960" cy="0"/>
          </a:xfrm>
          <a:prstGeom prst="line">
            <a:avLst/>
          </a:prstGeom>
          <a:noFill/>
          <a:ln w="12700">
            <a:solidFill>
              <a:srgbClr val="D4DD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879592"/>
            <a:ext cx="50292" cy="41148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5888736"/>
            <a:ext cx="10899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空 oracle 是未測量，不是模型答錯。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XIAOAN  /  EVALUATION DESIGN v2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0826496" y="6473952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08 / 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650138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README § cases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502920" y="2011680"/>
            <a:ext cx="3569208" cy="3346704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3232" y="2240280"/>
            <a:ext cx="3148584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5528" y="2263140"/>
            <a:ext cx="2983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CASE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13232" y="2862072"/>
            <a:ext cx="31485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我要測的情境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713232" y="3840480"/>
            <a:ext cx="314858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使用者輸入、歷史、多輪順序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scenario、cohort、quality_focus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4273296" y="2011680"/>
            <a:ext cx="3569208" cy="3346704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83608" y="2240280"/>
            <a:ext cx="3148584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65904" y="2263140"/>
            <a:ext cx="2983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ORACLE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483608" y="2862072"/>
            <a:ext cx="31485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什麼才算符合？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4483608" y="3840480"/>
            <a:ext cx="314858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可接受 route 集合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必要／禁止行為與事實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8043672" y="2011680"/>
            <a:ext cx="3569208" cy="3346704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53984" y="2240280"/>
            <a:ext cx="3148584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36280" y="2263140"/>
            <a:ext cx="2983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TRACE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8253984" y="2862072"/>
            <a:ext cx="31485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實際發生了什麼？</a:t>
            </a:r>
            <a:endParaRPr lang="en-US" sz="2300" dirty="0"/>
          </a:p>
        </p:txBody>
      </p:sp>
      <p:sp>
        <p:nvSpPr>
          <p:cNvPr id="26" name="Text 23"/>
          <p:cNvSpPr/>
          <p:nvPr/>
        </p:nvSpPr>
        <p:spPr>
          <a:xfrm>
            <a:off x="8253984" y="3840480"/>
            <a:ext cx="314858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risk、route、context、state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工具、timings 與錯誤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08 / GOVERNANCE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09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成熟度控制「可以判定」與「可以聚合」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28216"/>
            <a:ext cx="11109960" cy="0"/>
          </a:xfrm>
          <a:prstGeom prst="line">
            <a:avLst/>
          </a:prstGeom>
          <a:noFill/>
          <a:ln w="12700">
            <a:solidFill>
              <a:srgbClr val="D4DD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879592"/>
            <a:ext cx="50292" cy="41148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5888736"/>
            <a:ext cx="10899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不讓草案或未批准分母，悄悄變成正式結論。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XIAOAN  /  EVALUATION DESIGN v2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0826496" y="6473952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09 / 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650138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README § cases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502920" y="2075688"/>
            <a:ext cx="384048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" y="209854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2569464"/>
            <a:ext cx="3593592" cy="1828800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2569464"/>
            <a:ext cx="3593592" cy="50292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2648" y="2779776"/>
            <a:ext cx="3374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PROVISIONAL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21792" y="3575304"/>
            <a:ext cx="3355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草案；只作描述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不進正式 oracle gate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4096512" y="31089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›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4261104" y="2075688"/>
            <a:ext cx="384048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43400" y="209854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02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261104" y="2569464"/>
            <a:ext cx="3593592" cy="1828800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261104" y="2569464"/>
            <a:ext cx="3593592" cy="50292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70832" y="2779776"/>
            <a:ext cx="3374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REVIEWED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4379976" y="3575304"/>
            <a:ext cx="3355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已審閱標記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可依批准條件判定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7854696" y="31089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›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8019288" y="2075688"/>
            <a:ext cx="384048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101584" y="209854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03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8019288" y="2569464"/>
            <a:ext cx="3593592" cy="1828800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019288" y="2569464"/>
            <a:ext cx="3593592" cy="50292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129016" y="2779776"/>
            <a:ext cx="3374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APPROVED_AGGREGATE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8138160" y="3575304"/>
            <a:ext cx="3355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正式 scenario rollup資格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還須 score 可用</a:t>
            </a:r>
            <a:endParaRPr lang="en-US" sz="1550" dirty="0"/>
          </a:p>
        </p:txBody>
      </p:sp>
      <p:sp>
        <p:nvSpPr>
          <p:cNvPr id="32" name="Shape 29"/>
          <p:cNvSpPr/>
          <p:nvPr/>
        </p:nvSpPr>
        <p:spPr>
          <a:xfrm>
            <a:off x="502920" y="4773168"/>
            <a:ext cx="11109960" cy="667512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13232" y="4864608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目前 74 個正式 cases 都是 REVIEWED；APPROVED_AGGREGATE = 0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09 / COVERAGE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09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74 個案例，不等於每種能力都已覆蓋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28216"/>
            <a:ext cx="11109960" cy="0"/>
          </a:xfrm>
          <a:prstGeom prst="line">
            <a:avLst/>
          </a:prstGeom>
          <a:noFill/>
          <a:ln w="12700">
            <a:solidFill>
              <a:srgbClr val="D4DD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879592"/>
            <a:ext cx="50292" cy="41148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5888736"/>
            <a:ext cx="10899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報告同時展示 authored 與 reviewed，讓缺口可見。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XIAOAN  /  EVALUATION DESIGN v2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0826496" y="6473952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10 / 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650138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README § cases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502920" y="1956816"/>
            <a:ext cx="2651760" cy="2066544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217627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74</a:t>
            </a:r>
            <a:endParaRPr lang="en-US" sz="4700" dirty="0"/>
          </a:p>
        </p:txBody>
      </p:sp>
      <p:sp>
        <p:nvSpPr>
          <p:cNvPr id="14" name="Text 11"/>
          <p:cNvSpPr/>
          <p:nvPr/>
        </p:nvSpPr>
        <p:spPr>
          <a:xfrm>
            <a:off x="685800" y="29900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正式 cases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685800" y="3456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217 turns；皆標記 REVIEWED</a:t>
            </a:r>
            <a:endParaRPr lang="en-US" sz="1140" dirty="0"/>
          </a:p>
        </p:txBody>
      </p:sp>
      <p:sp>
        <p:nvSpPr>
          <p:cNvPr id="16" name="Shape 13"/>
          <p:cNvSpPr/>
          <p:nvPr/>
        </p:nvSpPr>
        <p:spPr>
          <a:xfrm>
            <a:off x="3314700" y="1956816"/>
            <a:ext cx="2651760" cy="2066544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97580" y="217627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0" b="1" dirty="0">
                <a:solidFill>
                  <a:srgbClr val="B65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</a:t>
            </a:r>
            <a:endParaRPr lang="en-US" sz="4700" dirty="0"/>
          </a:p>
        </p:txBody>
      </p:sp>
      <p:sp>
        <p:nvSpPr>
          <p:cNvPr id="18" name="Text 15"/>
          <p:cNvSpPr/>
          <p:nvPr/>
        </p:nvSpPr>
        <p:spPr>
          <a:xfrm>
            <a:off x="3497580" y="29900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response oracle 輪次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3497580" y="3456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必要／禁止回答條件尚缺</a:t>
            </a:r>
            <a:endParaRPr lang="en-US" sz="1140" dirty="0"/>
          </a:p>
        </p:txBody>
      </p:sp>
      <p:sp>
        <p:nvSpPr>
          <p:cNvPr id="20" name="Shape 17"/>
          <p:cNvSpPr/>
          <p:nvPr/>
        </p:nvSpPr>
        <p:spPr>
          <a:xfrm>
            <a:off x="6126480" y="1956816"/>
            <a:ext cx="2651760" cy="2066544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09360" y="217627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6</a:t>
            </a:r>
            <a:endParaRPr lang="en-US" sz="4700" dirty="0"/>
          </a:p>
        </p:txBody>
      </p:sp>
      <p:sp>
        <p:nvSpPr>
          <p:cNvPr id="22" name="Text 19"/>
          <p:cNvSpPr/>
          <p:nvPr/>
        </p:nvSpPr>
        <p:spPr>
          <a:xfrm>
            <a:off x="6309360" y="29900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memory checkpoints</a:t>
            </a:r>
            <a:endParaRPr lang="en-US" sz="1750" dirty="0"/>
          </a:p>
        </p:txBody>
      </p:sp>
      <p:sp>
        <p:nvSpPr>
          <p:cNvPr id="23" name="Text 20"/>
          <p:cNvSpPr/>
          <p:nvPr/>
        </p:nvSpPr>
        <p:spPr>
          <a:xfrm>
            <a:off x="6309360" y="3456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目前全部只測 use</a:t>
            </a:r>
            <a:endParaRPr lang="en-US" sz="1140" dirty="0"/>
          </a:p>
        </p:txBody>
      </p:sp>
      <p:sp>
        <p:nvSpPr>
          <p:cNvPr id="24" name="Shape 21"/>
          <p:cNvSpPr/>
          <p:nvPr/>
        </p:nvSpPr>
        <p:spPr>
          <a:xfrm>
            <a:off x="8938260" y="1956816"/>
            <a:ext cx="2651760" cy="2066544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21140" y="217627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9</a:t>
            </a:r>
            <a:endParaRPr lang="en-US" sz="4700" dirty="0"/>
          </a:p>
        </p:txBody>
      </p:sp>
      <p:sp>
        <p:nvSpPr>
          <p:cNvPr id="26" name="Text 23"/>
          <p:cNvSpPr/>
          <p:nvPr/>
        </p:nvSpPr>
        <p:spPr>
          <a:xfrm>
            <a:off x="9121140" y="29900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新提案 cases</a:t>
            </a:r>
            <a:endParaRPr lang="en-US" sz="1750" dirty="0"/>
          </a:p>
        </p:txBody>
      </p:sp>
      <p:sp>
        <p:nvSpPr>
          <p:cNvPr id="27" name="Text 24"/>
          <p:cNvSpPr/>
          <p:nvPr/>
        </p:nvSpPr>
        <p:spPr>
          <a:xfrm>
            <a:off x="9121140" y="3456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仍是 PROVISIONAL；不自動載入</a:t>
            </a:r>
            <a:endParaRPr lang="en-US" sz="1140" dirty="0"/>
          </a:p>
        </p:txBody>
      </p:sp>
      <p:sp>
        <p:nvSpPr>
          <p:cNvPr id="28" name="Text 25"/>
          <p:cNvSpPr/>
          <p:nvPr/>
        </p:nvSpPr>
        <p:spPr>
          <a:xfrm>
            <a:off x="685800" y="43708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Route oracle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995160" y="43708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4 / 217 turns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6858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Safety oracle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995160" y="4754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24 / 217 turns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85800" y="5138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Scenario 聚合批准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6995160" y="51389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 / 74 cases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10 / STATUS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09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先讀狀態，再讀分數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28216"/>
            <a:ext cx="11109960" cy="0"/>
          </a:xfrm>
          <a:prstGeom prst="line">
            <a:avLst/>
          </a:prstGeom>
          <a:noFill/>
          <a:ln w="12700">
            <a:solidFill>
              <a:srgbClr val="D4DD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879592"/>
            <a:ext cx="50292" cy="41148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5888736"/>
            <a:ext cx="10899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排除 timeout 的品質假零分，但仍必須報告 timeout。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XIAOAN  /  EVALUATION DESIGN v2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0826496" y="6473952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11 / 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650138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README § status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502920" y="1901952"/>
            <a:ext cx="2788920" cy="429768"/>
          </a:xfrm>
          <a:prstGeom prst="rect">
            <a:avLst/>
          </a:prstGeom>
          <a:solidFill>
            <a:srgbClr val="142B38"/>
          </a:solidFill>
          <a:ln w="7620">
            <a:solidFill>
              <a:srgbClr val="142B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19659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合成情況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291840" y="1901952"/>
            <a:ext cx="3822192" cy="429768"/>
          </a:xfrm>
          <a:prstGeom prst="rect">
            <a:avLst/>
          </a:prstGeom>
          <a:solidFill>
            <a:srgbClr val="142B38"/>
          </a:solidFill>
          <a:ln w="7620">
            <a:solidFill>
              <a:srgbClr val="142B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29000" y="1965960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品質值／結論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114032" y="1901952"/>
            <a:ext cx="4498848" cy="429768"/>
          </a:xfrm>
          <a:prstGeom prst="rect">
            <a:avLst/>
          </a:prstGeom>
          <a:solidFill>
            <a:srgbClr val="142B38"/>
          </a:solidFill>
          <a:ln w="7620">
            <a:solidFill>
              <a:srgbClr val="142B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51192" y="1965960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正確解讀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2331720"/>
            <a:ext cx="2788920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240487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provider timeout</a:t>
            </a:r>
            <a:endParaRPr lang="en-US" sz="1530" dirty="0"/>
          </a:p>
        </p:txBody>
      </p:sp>
      <p:sp>
        <p:nvSpPr>
          <p:cNvPr id="20" name="Shape 17"/>
          <p:cNvSpPr/>
          <p:nvPr/>
        </p:nvSpPr>
        <p:spPr>
          <a:xfrm>
            <a:off x="3291840" y="2331720"/>
            <a:ext cx="3822192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29000" y="2404872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null / UNAVAILABLE</a:t>
            </a:r>
            <a:endParaRPr lang="en-US" sz="1530" dirty="0"/>
          </a:p>
        </p:txBody>
      </p:sp>
      <p:sp>
        <p:nvSpPr>
          <p:cNvPr id="22" name="Shape 19"/>
          <p:cNvSpPr/>
          <p:nvPr/>
        </p:nvSpPr>
        <p:spPr>
          <a:xfrm>
            <a:off x="7114032" y="2331720"/>
            <a:ext cx="4498848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251192" y="2404872"/>
            <a:ext cx="4224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執行缺失，不是品質 0</a:t>
            </a:r>
            <a:endParaRPr lang="en-US" sz="1530" dirty="0"/>
          </a:p>
        </p:txBody>
      </p:sp>
      <p:sp>
        <p:nvSpPr>
          <p:cNvPr id="24" name="Shape 21"/>
          <p:cNvSpPr/>
          <p:nvPr/>
        </p:nvSpPr>
        <p:spPr>
          <a:xfrm>
            <a:off x="502920" y="2999232"/>
            <a:ext cx="2788920" cy="667512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307238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完整回答，全部維度 1；門檻 2</a:t>
            </a:r>
            <a:endParaRPr lang="en-US" sz="1530" dirty="0"/>
          </a:p>
        </p:txBody>
      </p:sp>
      <p:sp>
        <p:nvSpPr>
          <p:cNvPr id="26" name="Shape 23"/>
          <p:cNvSpPr/>
          <p:nvPr/>
        </p:nvSpPr>
        <p:spPr>
          <a:xfrm>
            <a:off x="3291840" y="2999232"/>
            <a:ext cx="3822192" cy="667512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29000" y="3072384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 / FAIL</a:t>
            </a:r>
            <a:endParaRPr lang="en-US" sz="1530" dirty="0"/>
          </a:p>
        </p:txBody>
      </p:sp>
      <p:sp>
        <p:nvSpPr>
          <p:cNvPr id="28" name="Shape 25"/>
          <p:cNvSpPr/>
          <p:nvPr/>
        </p:nvSpPr>
        <p:spPr>
          <a:xfrm>
            <a:off x="7114032" y="2999232"/>
            <a:ext cx="4498848" cy="667512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251192" y="3072384"/>
            <a:ext cx="4224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可正常執行，但品質不達標</a:t>
            </a:r>
            <a:endParaRPr lang="en-US" sz="1530" dirty="0"/>
          </a:p>
        </p:txBody>
      </p:sp>
      <p:sp>
        <p:nvSpPr>
          <p:cNvPr id="30" name="Shape 27"/>
          <p:cNvSpPr/>
          <p:nvPr/>
        </p:nvSpPr>
        <p:spPr>
          <a:xfrm>
            <a:off x="502920" y="3666744"/>
            <a:ext cx="2788920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0080" y="373989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完整回答，全部维度 3；無門檻</a:t>
            </a:r>
            <a:endParaRPr lang="en-US" sz="1530" dirty="0"/>
          </a:p>
        </p:txBody>
      </p:sp>
      <p:sp>
        <p:nvSpPr>
          <p:cNvPr id="32" name="Shape 29"/>
          <p:cNvSpPr/>
          <p:nvPr/>
        </p:nvSpPr>
        <p:spPr>
          <a:xfrm>
            <a:off x="3291840" y="3666744"/>
            <a:ext cx="3822192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429000" y="3739896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3 / NOT_CONFIGURED</a:t>
            </a:r>
            <a:endParaRPr lang="en-US" sz="1530" dirty="0"/>
          </a:p>
        </p:txBody>
      </p:sp>
      <p:sp>
        <p:nvSpPr>
          <p:cNvPr id="34" name="Shape 31"/>
          <p:cNvSpPr/>
          <p:nvPr/>
        </p:nvSpPr>
        <p:spPr>
          <a:xfrm>
            <a:off x="7114032" y="3666744"/>
            <a:ext cx="4498848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251192" y="3739896"/>
            <a:ext cx="4224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有分數，不宣告品質合格</a:t>
            </a:r>
            <a:endParaRPr lang="en-US" sz="1530" dirty="0"/>
          </a:p>
        </p:txBody>
      </p:sp>
      <p:sp>
        <p:nvSpPr>
          <p:cNvPr id="36" name="Shape 33"/>
          <p:cNvSpPr/>
          <p:nvPr/>
        </p:nvSpPr>
        <p:spPr>
          <a:xfrm>
            <a:off x="502920" y="4334256"/>
            <a:ext cx="2788920" cy="667512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0080" y="440740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完整可評案例命中紅線</a:t>
            </a:r>
            <a:endParaRPr lang="en-US" sz="1530" dirty="0"/>
          </a:p>
        </p:txBody>
      </p:sp>
      <p:sp>
        <p:nvSpPr>
          <p:cNvPr id="38" name="Shape 35"/>
          <p:cNvSpPr/>
          <p:nvPr/>
        </p:nvSpPr>
        <p:spPr>
          <a:xfrm>
            <a:off x="3291840" y="4334256"/>
            <a:ext cx="3822192" cy="667512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429000" y="4407408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 / FAIL</a:t>
            </a:r>
            <a:endParaRPr lang="en-US" sz="1530" dirty="0"/>
          </a:p>
        </p:txBody>
      </p:sp>
      <p:sp>
        <p:nvSpPr>
          <p:cNvPr id="40" name="Shape 37"/>
          <p:cNvSpPr/>
          <p:nvPr/>
        </p:nvSpPr>
        <p:spPr>
          <a:xfrm>
            <a:off x="7114032" y="4334256"/>
            <a:ext cx="4498848" cy="667512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251192" y="4407408"/>
            <a:ext cx="4224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真實違規，不能補分</a:t>
            </a:r>
            <a:endParaRPr lang="en-US" sz="1530" dirty="0"/>
          </a:p>
        </p:txBody>
      </p:sp>
      <p:sp>
        <p:nvSpPr>
          <p:cNvPr id="42" name="Shape 39"/>
          <p:cNvSpPr/>
          <p:nvPr/>
        </p:nvSpPr>
        <p:spPr>
          <a:xfrm>
            <a:off x="502920" y="5001768"/>
            <a:ext cx="2788920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0080" y="50749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oracle 未批准</a:t>
            </a:r>
            <a:endParaRPr lang="en-US" sz="1530" dirty="0"/>
          </a:p>
        </p:txBody>
      </p:sp>
      <p:sp>
        <p:nvSpPr>
          <p:cNvPr id="44" name="Shape 41"/>
          <p:cNvSpPr/>
          <p:nvPr/>
        </p:nvSpPr>
        <p:spPr>
          <a:xfrm>
            <a:off x="3291840" y="5001768"/>
            <a:ext cx="3822192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429000" y="5074920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NOT_APPROVED</a:t>
            </a:r>
            <a:endParaRPr lang="en-US" sz="1530" dirty="0"/>
          </a:p>
        </p:txBody>
      </p:sp>
      <p:sp>
        <p:nvSpPr>
          <p:cNvPr id="46" name="Shape 43"/>
          <p:cNvSpPr/>
          <p:nvPr/>
        </p:nvSpPr>
        <p:spPr>
          <a:xfrm>
            <a:off x="7114032" y="5001768"/>
            <a:ext cx="4498848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251192" y="5074920"/>
            <a:ext cx="4224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描述性結果，不作正式批准</a:t>
            </a:r>
            <a:endParaRPr lang="en-US" sz="15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11 / RUBRIC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09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七維度給品質刻度，紅線保留不可補償的底線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28216"/>
            <a:ext cx="11109960" cy="0"/>
          </a:xfrm>
          <a:prstGeom prst="line">
            <a:avLst/>
          </a:prstGeom>
          <a:noFill/>
          <a:ln w="12700">
            <a:solidFill>
              <a:srgbClr val="D4DD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879592"/>
            <a:ext cx="50292" cy="41148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5888736"/>
            <a:ext cx="10899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高表達分，不能抵消安全違規。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XIAOAN  /  EVALUATION DESIGN v2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0826496" y="6473952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12 / 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650138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README § scoring</a:t>
            </a:r>
            <a:endParaRPr lang="en-US" sz="820" dirty="0"/>
          </a:p>
        </p:txBody>
      </p:sp>
      <p:sp>
        <p:nvSpPr>
          <p:cNvPr id="12" name="Text 9"/>
          <p:cNvSpPr/>
          <p:nvPr/>
        </p:nvSpPr>
        <p:spPr>
          <a:xfrm>
            <a:off x="502920" y="1929384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基础能力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2880360" y="1965960"/>
            <a:ext cx="3273552" cy="201168"/>
          </a:xfrm>
          <a:prstGeom prst="rect">
            <a:avLst/>
          </a:prstGeom>
          <a:solidFill>
            <a:srgbClr val="D4DDDB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80360" y="1965960"/>
            <a:ext cx="3273552" cy="201168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73368" y="19293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22%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02920" y="242316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行动赋权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2880360" y="2459736"/>
            <a:ext cx="3273552" cy="201168"/>
          </a:xfrm>
          <a:prstGeom prst="rect">
            <a:avLst/>
          </a:prstGeom>
          <a:solidFill>
            <a:srgbClr val="D4DDDB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880360" y="2459736"/>
            <a:ext cx="2678361" cy="201168"/>
          </a:xfrm>
          <a:prstGeom prst="rect">
            <a:avLst/>
          </a:prstGeom>
          <a:solidFill>
            <a:srgbClr val="B65B38"/>
          </a:solidFill>
          <a:ln w="7620">
            <a:solidFill>
              <a:srgbClr val="B65B3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73368" y="2423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18%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2920" y="2916936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法律维权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2880360" y="2953512"/>
            <a:ext cx="3273552" cy="201168"/>
          </a:xfrm>
          <a:prstGeom prst="rect">
            <a:avLst/>
          </a:prstGeom>
          <a:solidFill>
            <a:srgbClr val="D4DDDB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880360" y="2953512"/>
            <a:ext cx="2678361" cy="201168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73368" y="291693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18%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02920" y="341071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求助转介</a:t>
            </a:r>
            <a:endParaRPr lang="en-US" sz="1550" dirty="0"/>
          </a:p>
        </p:txBody>
      </p:sp>
      <p:sp>
        <p:nvSpPr>
          <p:cNvPr id="25" name="Shape 22"/>
          <p:cNvSpPr/>
          <p:nvPr/>
        </p:nvSpPr>
        <p:spPr>
          <a:xfrm>
            <a:off x="2880360" y="3447288"/>
            <a:ext cx="3273552" cy="201168"/>
          </a:xfrm>
          <a:prstGeom prst="rect">
            <a:avLst/>
          </a:prstGeom>
          <a:solidFill>
            <a:srgbClr val="D4DDDB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880360" y="3447288"/>
            <a:ext cx="1934372" cy="201168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73368" y="34107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13%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02920" y="3904488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表达能力</a:t>
            </a:r>
            <a:endParaRPr lang="en-US" sz="1550" dirty="0"/>
          </a:p>
        </p:txBody>
      </p:sp>
      <p:sp>
        <p:nvSpPr>
          <p:cNvPr id="29" name="Shape 26"/>
          <p:cNvSpPr/>
          <p:nvPr/>
        </p:nvSpPr>
        <p:spPr>
          <a:xfrm>
            <a:off x="2880360" y="3941064"/>
            <a:ext cx="3273552" cy="201168"/>
          </a:xfrm>
          <a:prstGeom prst="rect">
            <a:avLst/>
          </a:prstGeom>
          <a:solidFill>
            <a:srgbClr val="D4DDDB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880360" y="3941064"/>
            <a:ext cx="1339180" cy="201168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73368" y="39044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9%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02920" y="4398264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丰富性</a:t>
            </a:r>
            <a:endParaRPr lang="en-US" sz="1550" dirty="0"/>
          </a:p>
        </p:txBody>
      </p:sp>
      <p:sp>
        <p:nvSpPr>
          <p:cNvPr id="33" name="Shape 30"/>
          <p:cNvSpPr/>
          <p:nvPr/>
        </p:nvSpPr>
        <p:spPr>
          <a:xfrm>
            <a:off x="2880360" y="4434840"/>
            <a:ext cx="3273552" cy="201168"/>
          </a:xfrm>
          <a:prstGeom prst="rect">
            <a:avLst/>
          </a:prstGeom>
          <a:solidFill>
            <a:srgbClr val="D4DDDB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880360" y="4434840"/>
            <a:ext cx="1339180" cy="201168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373368" y="43982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9%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02920" y="489204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包容性与可及性</a:t>
            </a:r>
            <a:endParaRPr lang="en-US" sz="1550" dirty="0"/>
          </a:p>
        </p:txBody>
      </p:sp>
      <p:sp>
        <p:nvSpPr>
          <p:cNvPr id="37" name="Shape 34"/>
          <p:cNvSpPr/>
          <p:nvPr/>
        </p:nvSpPr>
        <p:spPr>
          <a:xfrm>
            <a:off x="2880360" y="4928616"/>
            <a:ext cx="3273552" cy="201168"/>
          </a:xfrm>
          <a:prstGeom prst="rect">
            <a:avLst/>
          </a:prstGeom>
          <a:solidFill>
            <a:srgbClr val="D4DDDB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880360" y="4928616"/>
            <a:ext cx="1636776" cy="201168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373368" y="48920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11%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7662672" y="1956816"/>
            <a:ext cx="3950208" cy="360273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900416" y="2212848"/>
            <a:ext cx="3465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0–3 評分錨點</a:t>
            </a:r>
            <a:endParaRPr lang="en-US" sz="2100" dirty="0"/>
          </a:p>
        </p:txBody>
      </p:sp>
      <p:sp>
        <p:nvSpPr>
          <p:cNvPr id="42" name="Text 39"/>
          <p:cNvSpPr/>
          <p:nvPr/>
        </p:nvSpPr>
        <p:spPr>
          <a:xfrm>
            <a:off x="7900416" y="289864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  不符合／明顯傷害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7900416" y="33375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  少量符合／嚴重缺口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7900416" y="377647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  基本符合／實質缺口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7900416" y="421538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3  充分符合／無相關扣分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7900416" y="4956048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逐維度只用整數 0–3；每一檔需要證據。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12 / SCORING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09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Focus 是調整權重，不是刪掉其他維度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28216"/>
            <a:ext cx="11109960" cy="0"/>
          </a:xfrm>
          <a:prstGeom prst="line">
            <a:avLst/>
          </a:prstGeom>
          <a:noFill/>
          <a:ln w="12700">
            <a:solidFill>
              <a:srgbClr val="D4DD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879592"/>
            <a:ext cx="50292" cy="41148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5888736"/>
            <a:ext cx="10899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同一組評分事實，在哪條路徑都要得到同一個量。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XIAOAN  /  EVALUATION DESIGN v2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0826496" y="6473952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13 / 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650138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README § scoring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502920" y="2002536"/>
            <a:ext cx="6720840" cy="3584448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2322576"/>
            <a:ext cx="6144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只有「行动赋权」= 3，其餘 = 0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777240" y="2971800"/>
            <a:ext cx="6144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focus 倍率：1.5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777240" y="3621024"/>
            <a:ext cx="6144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新總權重 = 1 + 0.18 × 0.5 = 1.09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777240" y="4270248"/>
            <a:ext cx="6144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加權總分 = 3 × 0.27 ÷ 1.09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7498080" y="2377440"/>
            <a:ext cx="412394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0.743119</a:t>
            </a:r>
            <a:endParaRPr lang="en-US" sz="4300" dirty="0"/>
          </a:p>
        </p:txBody>
      </p:sp>
      <p:sp>
        <p:nvSpPr>
          <p:cNvPr id="18" name="Text 15"/>
          <p:cNvSpPr/>
          <p:nvPr/>
        </p:nvSpPr>
        <p:spPr>
          <a:xfrm>
            <a:off x="7562088" y="3520440"/>
            <a:ext cx="4005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三條計分路徑的同一個結果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7525512" y="4480560"/>
            <a:ext cx="1901952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07808" y="45034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Ordinary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564624" y="4480560"/>
            <a:ext cx="1901952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46920" y="45034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Suite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525512" y="4910328"/>
            <a:ext cx="1901952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07808" y="49331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Matrix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9564624" y="4910328"/>
            <a:ext cx="1901952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646920" y="49331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Human review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13 / DENOMINATORS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09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聚合順序，决定了你到底在比較什麼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28216"/>
            <a:ext cx="11109960" cy="0"/>
          </a:xfrm>
          <a:prstGeom prst="line">
            <a:avLst/>
          </a:prstGeom>
          <a:noFill/>
          <a:ln w="12700">
            <a:solidFill>
              <a:srgbClr val="D4DD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879592"/>
            <a:ext cx="50292" cy="41148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5888736"/>
            <a:ext cx="10899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平均值之外，必须說清 unit、完整性與分母。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XIAOAN  /  EVALUATION DESIGN v2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0826496" y="6473952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14 / 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650138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README § scoring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502920" y="1929384"/>
            <a:ext cx="5440680" cy="177393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04088" y="2121408"/>
            <a:ext cx="1088136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6384" y="2144268"/>
            <a:ext cx="923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CASE A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13232" y="2642616"/>
            <a:ext cx="49926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三輪：[0, 0, 3]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713232" y="3182112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case mean = 1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172200" y="1929384"/>
            <a:ext cx="5440680" cy="177393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73368" y="2121408"/>
            <a:ext cx="1088136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55664" y="2144268"/>
            <a:ext cx="923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CASE B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382512" y="2642616"/>
            <a:ext cx="49926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一輪：[3]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6382512" y="3182112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case mean = 3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603504" y="402336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Case-macro = (1 + 3) ÷ 2 = 2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603504" y="46817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Turn-micro = (0 + 0 + 3 + 3) ÷ 4 = 1.5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612648" y="5276088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Matrix 總分採完整 case 的 macro mean；維度表另報有效 turn median。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14 / METRICS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09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不同指標，對應不同失敗階段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28216"/>
            <a:ext cx="11109960" cy="0"/>
          </a:xfrm>
          <a:prstGeom prst="line">
            <a:avLst/>
          </a:prstGeom>
          <a:noFill/>
          <a:ln w="12700">
            <a:solidFill>
              <a:srgbClr val="D4DD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879592"/>
            <a:ext cx="50292" cy="41148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5888736"/>
            <a:ext cx="10899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從最早有證據的失敗點，提出修正假設。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XIAOAN  /  EVALUATION DESIGN v2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0826496" y="6473952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15 / 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650138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README § metrics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502920" y="1901952"/>
            <a:ext cx="2788920" cy="429768"/>
          </a:xfrm>
          <a:prstGeom prst="rect">
            <a:avLst/>
          </a:prstGeom>
          <a:solidFill>
            <a:srgbClr val="142B38"/>
          </a:solidFill>
          <a:ln w="7620">
            <a:solidFill>
              <a:srgbClr val="142B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19659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訊號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291840" y="1901952"/>
            <a:ext cx="3822192" cy="429768"/>
          </a:xfrm>
          <a:prstGeom prst="rect">
            <a:avLst/>
          </a:prstGeom>
          <a:solidFill>
            <a:srgbClr val="142B38"/>
          </a:solidFill>
          <a:ln w="7620">
            <a:solidFill>
              <a:srgbClr val="142B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29000" y="1965960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先查什麼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114032" y="1901952"/>
            <a:ext cx="4498848" cy="429768"/>
          </a:xfrm>
          <a:prstGeom prst="rect">
            <a:avLst/>
          </a:prstGeom>
          <a:solidFill>
            <a:srgbClr val="142B38"/>
          </a:solidFill>
          <a:ln w="7620">
            <a:solidFill>
              <a:srgbClr val="142B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51192" y="1965960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不能直接推論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2331720"/>
            <a:ext cx="2788920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240487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Route acceptance 低</a:t>
            </a:r>
            <a:endParaRPr lang="en-US" sz="1530" dirty="0"/>
          </a:p>
        </p:txBody>
      </p:sp>
      <p:sp>
        <p:nvSpPr>
          <p:cNvPr id="20" name="Shape 17"/>
          <p:cNvSpPr/>
          <p:nvPr/>
        </p:nvSpPr>
        <p:spPr>
          <a:xfrm>
            <a:off x="3291840" y="2331720"/>
            <a:ext cx="3822192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29000" y="2404872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oracle、risk、router、state</a:t>
            </a:r>
            <a:endParaRPr lang="en-US" sz="1530" dirty="0"/>
          </a:p>
        </p:txBody>
      </p:sp>
      <p:sp>
        <p:nvSpPr>
          <p:cNvPr id="22" name="Shape 19"/>
          <p:cNvSpPr/>
          <p:nvPr/>
        </p:nvSpPr>
        <p:spPr>
          <a:xfrm>
            <a:off x="7114032" y="2331720"/>
            <a:ext cx="4498848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251192" y="2404872"/>
            <a:ext cx="4224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一定是檢索模型太差</a:t>
            </a:r>
            <a:endParaRPr lang="en-US" sz="1530" dirty="0"/>
          </a:p>
        </p:txBody>
      </p:sp>
      <p:sp>
        <p:nvSpPr>
          <p:cNvPr id="24" name="Shape 21"/>
          <p:cNvSpPr/>
          <p:nvPr/>
        </p:nvSpPr>
        <p:spPr>
          <a:xfrm>
            <a:off x="502920" y="2999232"/>
            <a:ext cx="2788920" cy="667512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307238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Ground resolution error</a:t>
            </a:r>
            <a:endParaRPr lang="en-US" sz="1530" dirty="0"/>
          </a:p>
        </p:txBody>
      </p:sp>
      <p:sp>
        <p:nvSpPr>
          <p:cNvPr id="26" name="Shape 23"/>
          <p:cNvSpPr/>
          <p:nvPr/>
        </p:nvSpPr>
        <p:spPr>
          <a:xfrm>
            <a:off x="3291840" y="2999232"/>
            <a:ext cx="3822192" cy="667512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29000" y="3072384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resolver、ref、snapshot</a:t>
            </a:r>
            <a:endParaRPr lang="en-US" sz="1530" dirty="0"/>
          </a:p>
        </p:txBody>
      </p:sp>
      <p:sp>
        <p:nvSpPr>
          <p:cNvPr id="28" name="Shape 25"/>
          <p:cNvSpPr/>
          <p:nvPr/>
        </p:nvSpPr>
        <p:spPr>
          <a:xfrm>
            <a:off x="7114032" y="2999232"/>
            <a:ext cx="4498848" cy="667512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251192" y="3072384"/>
            <a:ext cx="4224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回答語義一定不正確</a:t>
            </a:r>
            <a:endParaRPr lang="en-US" sz="1530" dirty="0"/>
          </a:p>
        </p:txBody>
      </p:sp>
      <p:sp>
        <p:nvSpPr>
          <p:cNvPr id="30" name="Shape 27"/>
          <p:cNvSpPr/>
          <p:nvPr/>
        </p:nvSpPr>
        <p:spPr>
          <a:xfrm>
            <a:off x="502920" y="3666744"/>
            <a:ext cx="2788920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0080" y="373989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Unsupported claims 高</a:t>
            </a:r>
            <a:endParaRPr lang="en-US" sz="1530" dirty="0"/>
          </a:p>
        </p:txBody>
      </p:sp>
      <p:sp>
        <p:nvSpPr>
          <p:cNvPr id="32" name="Shape 29"/>
          <p:cNvSpPr/>
          <p:nvPr/>
        </p:nvSpPr>
        <p:spPr>
          <a:xfrm>
            <a:off x="3291840" y="3666744"/>
            <a:ext cx="3822192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429000" y="3739896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answer / evidence spans</a:t>
            </a:r>
            <a:endParaRPr lang="en-US" sz="1530" dirty="0"/>
          </a:p>
        </p:txBody>
      </p:sp>
      <p:sp>
        <p:nvSpPr>
          <p:cNvPr id="34" name="Shape 31"/>
          <p:cNvSpPr/>
          <p:nvPr/>
        </p:nvSpPr>
        <p:spPr>
          <a:xfrm>
            <a:off x="7114032" y="3666744"/>
            <a:ext cx="4498848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251192" y="3739896"/>
            <a:ext cx="4224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加更多 context 就會解決</a:t>
            </a:r>
            <a:endParaRPr lang="en-US" sz="1530" dirty="0"/>
          </a:p>
        </p:txBody>
      </p:sp>
      <p:sp>
        <p:nvSpPr>
          <p:cNvPr id="36" name="Shape 33"/>
          <p:cNvSpPr/>
          <p:nvPr/>
        </p:nvSpPr>
        <p:spPr>
          <a:xfrm>
            <a:off x="502920" y="4334256"/>
            <a:ext cx="2788920" cy="667512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0080" y="440740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Memory not_use 失敗</a:t>
            </a:r>
            <a:endParaRPr lang="en-US" sz="1530" dirty="0"/>
          </a:p>
        </p:txBody>
      </p:sp>
      <p:sp>
        <p:nvSpPr>
          <p:cNvPr id="38" name="Shape 35"/>
          <p:cNvSpPr/>
          <p:nvPr/>
        </p:nvSpPr>
        <p:spPr>
          <a:xfrm>
            <a:off x="3291840" y="4334256"/>
            <a:ext cx="3822192" cy="667512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429000" y="4407408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使用條件、scope、expiry</a:t>
            </a:r>
            <a:endParaRPr lang="en-US" sz="1530" dirty="0"/>
          </a:p>
        </p:txBody>
      </p:sp>
      <p:sp>
        <p:nvSpPr>
          <p:cNvPr id="40" name="Shape 37"/>
          <p:cNvSpPr/>
          <p:nvPr/>
        </p:nvSpPr>
        <p:spPr>
          <a:xfrm>
            <a:off x="7114032" y="4334256"/>
            <a:ext cx="4498848" cy="667512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251192" y="4407408"/>
            <a:ext cx="4224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記得越多就越好</a:t>
            </a:r>
            <a:endParaRPr lang="en-US" sz="1530" dirty="0"/>
          </a:p>
        </p:txBody>
      </p:sp>
      <p:sp>
        <p:nvSpPr>
          <p:cNvPr id="42" name="Shape 39"/>
          <p:cNvSpPr/>
          <p:nvPr/>
        </p:nvSpPr>
        <p:spPr>
          <a:xfrm>
            <a:off x="502920" y="5001768"/>
            <a:ext cx="2788920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0080" y="50749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Judge 分歧大</a:t>
            </a:r>
            <a:endParaRPr lang="en-US" sz="1530" dirty="0"/>
          </a:p>
        </p:txBody>
      </p:sp>
      <p:sp>
        <p:nvSpPr>
          <p:cNvPr id="44" name="Shape 41"/>
          <p:cNvSpPr/>
          <p:nvPr/>
        </p:nvSpPr>
        <p:spPr>
          <a:xfrm>
            <a:off x="3291840" y="5001768"/>
            <a:ext cx="3822192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429000" y="5074920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同答案、rubric、人評錨點</a:t>
            </a:r>
            <a:endParaRPr lang="en-US" sz="1530" dirty="0"/>
          </a:p>
        </p:txBody>
      </p:sp>
      <p:sp>
        <p:nvSpPr>
          <p:cNvPr id="46" name="Shape 43"/>
          <p:cNvSpPr/>
          <p:nvPr/>
        </p:nvSpPr>
        <p:spPr>
          <a:xfrm>
            <a:off x="7114032" y="5001768"/>
            <a:ext cx="4498848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251192" y="5074920"/>
            <a:ext cx="4224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應直接改產品 Prompt</a:t>
            </a:r>
            <a:endParaRPr lang="en-US" sz="15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15 / ATTRIBUTION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09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「選到」「送到」「支持」「造成改變」是四件事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28216"/>
            <a:ext cx="11109960" cy="0"/>
          </a:xfrm>
          <a:prstGeom prst="line">
            <a:avLst/>
          </a:prstGeom>
          <a:noFill/>
          <a:ln w="12700">
            <a:solidFill>
              <a:srgbClr val="D4DD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879592"/>
            <a:ext cx="50292" cy="41148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5888736"/>
            <a:ext cx="10899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Trace 讓過程可見；因果仍需要受控實驗。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XIAOAN  /  EVALUATION DESIGN v2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0826496" y="6473952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16 / 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650138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README § attribution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502920" y="2075688"/>
            <a:ext cx="384048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" y="209854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2569464"/>
            <a:ext cx="2654046" cy="1828800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2569464"/>
            <a:ext cx="2654046" cy="50292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2648" y="2779776"/>
            <a:ext cx="24345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ROUTE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21792" y="3575304"/>
            <a:ext cx="241630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選中 Capsule / refs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3156966" y="31089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›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3321558" y="2075688"/>
            <a:ext cx="384048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03854" y="209854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02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321558" y="2569464"/>
            <a:ext cx="2654046" cy="1828800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321558" y="2569464"/>
            <a:ext cx="2654046" cy="50292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31286" y="2779776"/>
            <a:ext cx="24345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EXPOSURE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3440430" y="3575304"/>
            <a:ext cx="241630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固定 snapshot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內容送到模型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5975604" y="31089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›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6140196" y="2075688"/>
            <a:ext cx="384048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22492" y="209854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03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140196" y="2569464"/>
            <a:ext cx="2654046" cy="1828800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140196" y="2569464"/>
            <a:ext cx="2654046" cy="50292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49924" y="2779776"/>
            <a:ext cx="24345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SUPPORT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6259068" y="3575304"/>
            <a:ext cx="241630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claim / evidence spans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語義支持</a:t>
            </a:r>
            <a:endParaRPr lang="en-US" sz="1550" dirty="0"/>
          </a:p>
        </p:txBody>
      </p:sp>
      <p:sp>
        <p:nvSpPr>
          <p:cNvPr id="32" name="Text 29"/>
          <p:cNvSpPr/>
          <p:nvPr/>
        </p:nvSpPr>
        <p:spPr>
          <a:xfrm>
            <a:off x="8794242" y="31089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›</a:t>
            </a:r>
            <a:endParaRPr lang="en-US" sz="2400" dirty="0"/>
          </a:p>
        </p:txBody>
      </p:sp>
      <p:sp>
        <p:nvSpPr>
          <p:cNvPr id="33" name="Shape 30"/>
          <p:cNvSpPr/>
          <p:nvPr/>
        </p:nvSpPr>
        <p:spPr>
          <a:xfrm>
            <a:off x="8958834" y="2075688"/>
            <a:ext cx="384048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041130" y="209854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04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8958834" y="2569464"/>
            <a:ext cx="2654046" cy="1828800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958834" y="2569464"/>
            <a:ext cx="2654046" cy="50292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068562" y="2779776"/>
            <a:ext cx="24345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CAUSAL EFFECT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9077706" y="3575304"/>
            <a:ext cx="241630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控制其他變量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介入後配對重跑</a:t>
            </a:r>
            <a:endParaRPr lang="en-US" sz="1550" dirty="0"/>
          </a:p>
        </p:txBody>
      </p:sp>
      <p:sp>
        <p:nvSpPr>
          <p:cNvPr id="39" name="Shape 36"/>
          <p:cNvSpPr/>
          <p:nvPr/>
        </p:nvSpPr>
        <p:spPr>
          <a:xfrm>
            <a:off x="502920" y="4773168"/>
            <a:ext cx="11109960" cy="667512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13232" y="4864608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ENTAILS = 1；PARTIAL = 0.5；CONTEXT_ONLY / CONTRADICTS / UNSUPPORTED = 0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16 / MEMORY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09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好的記憶，也包含「正確地不用」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28216"/>
            <a:ext cx="11109960" cy="0"/>
          </a:xfrm>
          <a:prstGeom prst="line">
            <a:avLst/>
          </a:prstGeom>
          <a:noFill/>
          <a:ln w="12700">
            <a:solidFill>
              <a:srgbClr val="D4DD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879592"/>
            <a:ext cx="50292" cy="41148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5888736"/>
            <a:ext cx="10899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缺遙測 → SKIP；明確觀測失敗 → FAIL。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XIAOAN  /  EVALUATION DESIGN v2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0826496" y="6473952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17 / 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650138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README § memory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502920" y="1956816"/>
            <a:ext cx="2651760" cy="1655064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" y="21031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67512" y="2459736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Remember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67512" y="3008376"/>
            <a:ext cx="2313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應保留的 facts 仍存在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319272" y="1956816"/>
            <a:ext cx="2651760" cy="1655064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83864" y="21031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483864" y="2459736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Retrieve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3483864" y="3008376"/>
            <a:ext cx="2313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需要時找到正確 facts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135624" y="1956816"/>
            <a:ext cx="2651760" cy="1655064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00216" y="21031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300216" y="2459736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Use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6300216" y="3008376"/>
            <a:ext cx="2313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該用時，有使用證據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951976" y="1956816"/>
            <a:ext cx="2651760" cy="1655064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16568" y="21031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116568" y="2459736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Not use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9116568" y="3008376"/>
            <a:ext cx="2313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禁止的 facts 沒被使用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02920" y="3813048"/>
            <a:ext cx="2651760" cy="1655064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67512" y="39593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67512" y="4315968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Update</a:t>
            </a:r>
            <a:endParaRPr lang="en-US" sz="2100" dirty="0"/>
          </a:p>
        </p:txBody>
      </p:sp>
      <p:sp>
        <p:nvSpPr>
          <p:cNvPr id="31" name="Text 28"/>
          <p:cNvSpPr/>
          <p:nvPr/>
        </p:nvSpPr>
        <p:spPr>
          <a:xfrm>
            <a:off x="667512" y="4864608"/>
            <a:ext cx="2313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新資訊正確更新舊狀態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3319272" y="3813048"/>
            <a:ext cx="2651760" cy="1655064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483864" y="39593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3483864" y="4315968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Isolation</a:t>
            </a:r>
            <a:endParaRPr lang="en-US" sz="2100" dirty="0"/>
          </a:p>
        </p:txBody>
      </p:sp>
      <p:sp>
        <p:nvSpPr>
          <p:cNvPr id="35" name="Text 32"/>
          <p:cNvSpPr/>
          <p:nvPr/>
        </p:nvSpPr>
        <p:spPr>
          <a:xfrm>
            <a:off x="3483864" y="4864608"/>
            <a:ext cx="2313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session 隔離，無已知污染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6135624" y="3813048"/>
            <a:ext cx="2651760" cy="1655064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00216" y="39593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300216" y="4315968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Stale</a:t>
            </a:r>
            <a:endParaRPr lang="en-US" sz="2100" dirty="0"/>
          </a:p>
        </p:txBody>
      </p:sp>
      <p:sp>
        <p:nvSpPr>
          <p:cNvPr id="39" name="Text 36"/>
          <p:cNvSpPr/>
          <p:nvPr/>
        </p:nvSpPr>
        <p:spPr>
          <a:xfrm>
            <a:off x="6300216" y="4864608"/>
            <a:ext cx="2313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沒有使用過期記憶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8951976" y="3813048"/>
            <a:ext cx="2651760" cy="1655064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116568" y="39593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08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9116568" y="4315968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Unsafe</a:t>
            </a:r>
            <a:endParaRPr lang="en-US" sz="2100" dirty="0"/>
          </a:p>
        </p:txBody>
      </p:sp>
      <p:sp>
        <p:nvSpPr>
          <p:cNvPr id="43" name="Text 40"/>
          <p:cNvSpPr/>
          <p:nvPr/>
        </p:nvSpPr>
        <p:spPr>
          <a:xfrm>
            <a:off x="9116568" y="4864608"/>
            <a:ext cx="2313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沒有不安全的記憶使用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17 / JUDGE VALIDITY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09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多個 Judge 同意，不等於答案正確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28216"/>
            <a:ext cx="11109960" cy="0"/>
          </a:xfrm>
          <a:prstGeom prst="line">
            <a:avLst/>
          </a:prstGeom>
          <a:noFill/>
          <a:ln w="12700">
            <a:solidFill>
              <a:srgbClr val="D4DD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879592"/>
            <a:ext cx="50292" cy="41148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5888736"/>
            <a:ext cx="10899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Agreement 是描述證據；效度需要獨立人工錨點。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XIAOAN  /  EVALUATION DESIGN v2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0826496" y="6473952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18 / 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650138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README § matrix</a:t>
            </a:r>
            <a:endParaRPr lang="en-US" sz="820" dirty="0"/>
          </a:p>
        </p:txBody>
      </p:sp>
      <p:sp>
        <p:nvSpPr>
          <p:cNvPr id="12" name="Text 9"/>
          <p:cNvSpPr/>
          <p:nvPr/>
        </p:nvSpPr>
        <p:spPr>
          <a:xfrm>
            <a:off x="987552" y="1975104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J1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499616" y="1975104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J2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011680" y="1975104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J3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523744" y="1975104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J4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035808" y="1975104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J5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2920" y="2322576"/>
            <a:ext cx="4206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S1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87552" y="2322576"/>
            <a:ext cx="466344" cy="466344"/>
          </a:xfrm>
          <a:prstGeom prst="rect">
            <a:avLst/>
          </a:prstGeom>
          <a:solidFill>
            <a:srgbClr val="F2E5DB"/>
          </a:solidFill>
          <a:ln w="7620">
            <a:solidFill>
              <a:srgbClr val="F2E5D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7552" y="2345436"/>
            <a:ext cx="4663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65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1499616" y="2322576"/>
            <a:ext cx="466344" cy="466344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499616" y="2345436"/>
            <a:ext cx="4663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>
            <a:off x="2011680" y="2322576"/>
            <a:ext cx="466344" cy="466344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011680" y="2345436"/>
            <a:ext cx="4663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</a:t>
            </a:r>
            <a:endParaRPr lang="en-US" sz="1900" dirty="0"/>
          </a:p>
        </p:txBody>
      </p:sp>
      <p:sp>
        <p:nvSpPr>
          <p:cNvPr id="24" name="Shape 21"/>
          <p:cNvSpPr/>
          <p:nvPr/>
        </p:nvSpPr>
        <p:spPr>
          <a:xfrm>
            <a:off x="2523744" y="2322576"/>
            <a:ext cx="466344" cy="466344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23744" y="2345436"/>
            <a:ext cx="4663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</a:t>
            </a:r>
            <a:endParaRPr lang="en-US" sz="1900" dirty="0"/>
          </a:p>
        </p:txBody>
      </p:sp>
      <p:sp>
        <p:nvSpPr>
          <p:cNvPr id="26" name="Shape 23"/>
          <p:cNvSpPr/>
          <p:nvPr/>
        </p:nvSpPr>
        <p:spPr>
          <a:xfrm>
            <a:off x="3035808" y="2322576"/>
            <a:ext cx="466344" cy="466344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035808" y="2345436"/>
            <a:ext cx="4663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</a:t>
            </a:r>
            <a:endParaRPr lang="en-US" sz="1900" dirty="0"/>
          </a:p>
        </p:txBody>
      </p:sp>
      <p:sp>
        <p:nvSpPr>
          <p:cNvPr id="28" name="Text 25"/>
          <p:cNvSpPr/>
          <p:nvPr/>
        </p:nvSpPr>
        <p:spPr>
          <a:xfrm>
            <a:off x="502920" y="2834640"/>
            <a:ext cx="4206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S2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987552" y="2834640"/>
            <a:ext cx="466344" cy="466344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87552" y="2857500"/>
            <a:ext cx="4663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</a:t>
            </a:r>
            <a:endParaRPr lang="en-US" sz="1900" dirty="0"/>
          </a:p>
        </p:txBody>
      </p:sp>
      <p:sp>
        <p:nvSpPr>
          <p:cNvPr id="31" name="Shape 28"/>
          <p:cNvSpPr/>
          <p:nvPr/>
        </p:nvSpPr>
        <p:spPr>
          <a:xfrm>
            <a:off x="1499616" y="2834640"/>
            <a:ext cx="466344" cy="466344"/>
          </a:xfrm>
          <a:prstGeom prst="rect">
            <a:avLst/>
          </a:prstGeom>
          <a:solidFill>
            <a:srgbClr val="F2E5DB"/>
          </a:solidFill>
          <a:ln w="7620">
            <a:solidFill>
              <a:srgbClr val="F2E5D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499616" y="2857500"/>
            <a:ext cx="4663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65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</a:t>
            </a:r>
            <a:endParaRPr lang="en-US" sz="1900" dirty="0"/>
          </a:p>
        </p:txBody>
      </p:sp>
      <p:sp>
        <p:nvSpPr>
          <p:cNvPr id="33" name="Shape 30"/>
          <p:cNvSpPr/>
          <p:nvPr/>
        </p:nvSpPr>
        <p:spPr>
          <a:xfrm>
            <a:off x="2011680" y="2834640"/>
            <a:ext cx="466344" cy="466344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011680" y="2857500"/>
            <a:ext cx="4663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</a:t>
            </a:r>
            <a:endParaRPr lang="en-US" sz="1900" dirty="0"/>
          </a:p>
        </p:txBody>
      </p:sp>
      <p:sp>
        <p:nvSpPr>
          <p:cNvPr id="35" name="Shape 32"/>
          <p:cNvSpPr/>
          <p:nvPr/>
        </p:nvSpPr>
        <p:spPr>
          <a:xfrm>
            <a:off x="2523744" y="2834640"/>
            <a:ext cx="466344" cy="466344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523744" y="2857500"/>
            <a:ext cx="4663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</a:t>
            </a:r>
            <a:endParaRPr lang="en-US" sz="1900" dirty="0"/>
          </a:p>
        </p:txBody>
      </p:sp>
      <p:sp>
        <p:nvSpPr>
          <p:cNvPr id="37" name="Shape 34"/>
          <p:cNvSpPr/>
          <p:nvPr/>
        </p:nvSpPr>
        <p:spPr>
          <a:xfrm>
            <a:off x="3035808" y="2834640"/>
            <a:ext cx="466344" cy="466344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035808" y="2857500"/>
            <a:ext cx="4663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</a:t>
            </a:r>
            <a:endParaRPr lang="en-US" sz="1900" dirty="0"/>
          </a:p>
        </p:txBody>
      </p:sp>
      <p:sp>
        <p:nvSpPr>
          <p:cNvPr id="39" name="Text 36"/>
          <p:cNvSpPr/>
          <p:nvPr/>
        </p:nvSpPr>
        <p:spPr>
          <a:xfrm>
            <a:off x="502920" y="3346704"/>
            <a:ext cx="4206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S3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987552" y="3346704"/>
            <a:ext cx="466344" cy="466344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87552" y="3369564"/>
            <a:ext cx="4663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</a:t>
            </a:r>
            <a:endParaRPr lang="en-US" sz="1900" dirty="0"/>
          </a:p>
        </p:txBody>
      </p:sp>
      <p:sp>
        <p:nvSpPr>
          <p:cNvPr id="42" name="Shape 39"/>
          <p:cNvSpPr/>
          <p:nvPr/>
        </p:nvSpPr>
        <p:spPr>
          <a:xfrm>
            <a:off x="1499616" y="3346704"/>
            <a:ext cx="466344" cy="466344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499616" y="3369564"/>
            <a:ext cx="4663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</a:t>
            </a:r>
            <a:endParaRPr lang="en-US" sz="1900" dirty="0"/>
          </a:p>
        </p:txBody>
      </p:sp>
      <p:sp>
        <p:nvSpPr>
          <p:cNvPr id="44" name="Shape 41"/>
          <p:cNvSpPr/>
          <p:nvPr/>
        </p:nvSpPr>
        <p:spPr>
          <a:xfrm>
            <a:off x="2011680" y="3346704"/>
            <a:ext cx="466344" cy="466344"/>
          </a:xfrm>
          <a:prstGeom prst="rect">
            <a:avLst/>
          </a:prstGeom>
          <a:solidFill>
            <a:srgbClr val="F2E5DB"/>
          </a:solidFill>
          <a:ln w="7620">
            <a:solidFill>
              <a:srgbClr val="F2E5D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011680" y="3369564"/>
            <a:ext cx="4663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65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</a:t>
            </a:r>
            <a:endParaRPr lang="en-US" sz="1900" dirty="0"/>
          </a:p>
        </p:txBody>
      </p:sp>
      <p:sp>
        <p:nvSpPr>
          <p:cNvPr id="46" name="Shape 43"/>
          <p:cNvSpPr/>
          <p:nvPr/>
        </p:nvSpPr>
        <p:spPr>
          <a:xfrm>
            <a:off x="2523744" y="3346704"/>
            <a:ext cx="466344" cy="466344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523744" y="3369564"/>
            <a:ext cx="4663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</a:t>
            </a:r>
            <a:endParaRPr lang="en-US" sz="1900" dirty="0"/>
          </a:p>
        </p:txBody>
      </p:sp>
      <p:sp>
        <p:nvSpPr>
          <p:cNvPr id="48" name="Shape 45"/>
          <p:cNvSpPr/>
          <p:nvPr/>
        </p:nvSpPr>
        <p:spPr>
          <a:xfrm>
            <a:off x="3035808" y="3346704"/>
            <a:ext cx="466344" cy="466344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035808" y="3369564"/>
            <a:ext cx="4663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</a:t>
            </a:r>
            <a:endParaRPr lang="en-US" sz="1900" dirty="0"/>
          </a:p>
        </p:txBody>
      </p:sp>
      <p:sp>
        <p:nvSpPr>
          <p:cNvPr id="50" name="Text 47"/>
          <p:cNvSpPr/>
          <p:nvPr/>
        </p:nvSpPr>
        <p:spPr>
          <a:xfrm>
            <a:off x="502920" y="3858768"/>
            <a:ext cx="4206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S4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987552" y="3858768"/>
            <a:ext cx="466344" cy="466344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987552" y="3881628"/>
            <a:ext cx="4663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</a:t>
            </a:r>
            <a:endParaRPr lang="en-US" sz="1900" dirty="0"/>
          </a:p>
        </p:txBody>
      </p:sp>
      <p:sp>
        <p:nvSpPr>
          <p:cNvPr id="53" name="Shape 50"/>
          <p:cNvSpPr/>
          <p:nvPr/>
        </p:nvSpPr>
        <p:spPr>
          <a:xfrm>
            <a:off x="1499616" y="3858768"/>
            <a:ext cx="466344" cy="466344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499616" y="3881628"/>
            <a:ext cx="4663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</a:t>
            </a:r>
            <a:endParaRPr lang="en-US" sz="1900" dirty="0"/>
          </a:p>
        </p:txBody>
      </p:sp>
      <p:sp>
        <p:nvSpPr>
          <p:cNvPr id="55" name="Shape 52"/>
          <p:cNvSpPr/>
          <p:nvPr/>
        </p:nvSpPr>
        <p:spPr>
          <a:xfrm>
            <a:off x="2011680" y="3858768"/>
            <a:ext cx="466344" cy="466344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2011680" y="3881628"/>
            <a:ext cx="4663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</a:t>
            </a:r>
            <a:endParaRPr lang="en-US" sz="1900" dirty="0"/>
          </a:p>
        </p:txBody>
      </p:sp>
      <p:sp>
        <p:nvSpPr>
          <p:cNvPr id="57" name="Shape 54"/>
          <p:cNvSpPr/>
          <p:nvPr/>
        </p:nvSpPr>
        <p:spPr>
          <a:xfrm>
            <a:off x="2523744" y="3858768"/>
            <a:ext cx="466344" cy="466344"/>
          </a:xfrm>
          <a:prstGeom prst="rect">
            <a:avLst/>
          </a:prstGeom>
          <a:solidFill>
            <a:srgbClr val="F2E5DB"/>
          </a:solidFill>
          <a:ln w="7620">
            <a:solidFill>
              <a:srgbClr val="F2E5DB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2523744" y="3881628"/>
            <a:ext cx="4663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65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</a:t>
            </a:r>
            <a:endParaRPr lang="en-US" sz="1900" dirty="0"/>
          </a:p>
        </p:txBody>
      </p:sp>
      <p:sp>
        <p:nvSpPr>
          <p:cNvPr id="59" name="Shape 56"/>
          <p:cNvSpPr/>
          <p:nvPr/>
        </p:nvSpPr>
        <p:spPr>
          <a:xfrm>
            <a:off x="3035808" y="3858768"/>
            <a:ext cx="466344" cy="466344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3035808" y="3881628"/>
            <a:ext cx="4663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</a:t>
            </a:r>
            <a:endParaRPr lang="en-US" sz="1900" dirty="0"/>
          </a:p>
        </p:txBody>
      </p:sp>
      <p:sp>
        <p:nvSpPr>
          <p:cNvPr id="61" name="Text 58"/>
          <p:cNvSpPr/>
          <p:nvPr/>
        </p:nvSpPr>
        <p:spPr>
          <a:xfrm>
            <a:off x="502920" y="4370832"/>
            <a:ext cx="4206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S5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987552" y="4370832"/>
            <a:ext cx="466344" cy="466344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987552" y="4393692"/>
            <a:ext cx="4663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</a:t>
            </a:r>
            <a:endParaRPr lang="en-US" sz="1900" dirty="0"/>
          </a:p>
        </p:txBody>
      </p:sp>
      <p:sp>
        <p:nvSpPr>
          <p:cNvPr id="64" name="Shape 61"/>
          <p:cNvSpPr/>
          <p:nvPr/>
        </p:nvSpPr>
        <p:spPr>
          <a:xfrm>
            <a:off x="1499616" y="4370832"/>
            <a:ext cx="466344" cy="466344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499616" y="4393692"/>
            <a:ext cx="4663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</a:t>
            </a:r>
            <a:endParaRPr lang="en-US" sz="1900" dirty="0"/>
          </a:p>
        </p:txBody>
      </p:sp>
      <p:sp>
        <p:nvSpPr>
          <p:cNvPr id="66" name="Shape 63"/>
          <p:cNvSpPr/>
          <p:nvPr/>
        </p:nvSpPr>
        <p:spPr>
          <a:xfrm>
            <a:off x="2011680" y="4370832"/>
            <a:ext cx="466344" cy="466344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2011680" y="4393692"/>
            <a:ext cx="4663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</a:t>
            </a:r>
            <a:endParaRPr lang="en-US" sz="1900" dirty="0"/>
          </a:p>
        </p:txBody>
      </p:sp>
      <p:sp>
        <p:nvSpPr>
          <p:cNvPr id="68" name="Shape 65"/>
          <p:cNvSpPr/>
          <p:nvPr/>
        </p:nvSpPr>
        <p:spPr>
          <a:xfrm>
            <a:off x="2523744" y="4370832"/>
            <a:ext cx="466344" cy="466344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2523744" y="4393692"/>
            <a:ext cx="4663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</a:t>
            </a:r>
            <a:endParaRPr lang="en-US" sz="1900" dirty="0"/>
          </a:p>
        </p:txBody>
      </p:sp>
      <p:sp>
        <p:nvSpPr>
          <p:cNvPr id="70" name="Shape 67"/>
          <p:cNvSpPr/>
          <p:nvPr/>
        </p:nvSpPr>
        <p:spPr>
          <a:xfrm>
            <a:off x="3035808" y="4370832"/>
            <a:ext cx="466344" cy="466344"/>
          </a:xfrm>
          <a:prstGeom prst="rect">
            <a:avLst/>
          </a:prstGeom>
          <a:solidFill>
            <a:srgbClr val="F2E5DB"/>
          </a:solidFill>
          <a:ln w="7620">
            <a:solidFill>
              <a:srgbClr val="F2E5DB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035808" y="4393692"/>
            <a:ext cx="4663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65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</a:t>
            </a:r>
            <a:endParaRPr lang="en-US" sz="1900" dirty="0"/>
          </a:p>
        </p:txBody>
      </p:sp>
      <p:sp>
        <p:nvSpPr>
          <p:cNvPr id="72" name="Text 69"/>
          <p:cNvSpPr/>
          <p:nvPr/>
        </p:nvSpPr>
        <p:spPr>
          <a:xfrm>
            <a:off x="502920" y="5175504"/>
            <a:ext cx="3666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示意矩陣：S = 同模型自評；圓點只表示交叉評審，不是實測分數。</a:t>
            </a:r>
            <a:endParaRPr lang="en-US" sz="1000" dirty="0"/>
          </a:p>
        </p:txBody>
      </p:sp>
      <p:sp>
        <p:nvSpPr>
          <p:cNvPr id="73" name="Shape 70"/>
          <p:cNvSpPr/>
          <p:nvPr/>
        </p:nvSpPr>
        <p:spPr>
          <a:xfrm>
            <a:off x="4617720" y="2185416"/>
            <a:ext cx="310896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4700016" y="2208276"/>
            <a:ext cx="146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</a:t>
            </a:r>
            <a:endParaRPr lang="en-US" sz="1050" dirty="0"/>
          </a:p>
        </p:txBody>
      </p:sp>
      <p:sp>
        <p:nvSpPr>
          <p:cNvPr id="75" name="Text 72"/>
          <p:cNvSpPr/>
          <p:nvPr/>
        </p:nvSpPr>
        <p:spPr>
          <a:xfrm>
            <a:off x="5157216" y="2112264"/>
            <a:ext cx="6336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自評預設排除，保留診斷列</a:t>
            </a:r>
            <a:endParaRPr lang="en-US" sz="1750" dirty="0"/>
          </a:p>
        </p:txBody>
      </p:sp>
      <p:sp>
        <p:nvSpPr>
          <p:cNvPr id="76" name="Shape 73"/>
          <p:cNvSpPr/>
          <p:nvPr/>
        </p:nvSpPr>
        <p:spPr>
          <a:xfrm>
            <a:off x="4617720" y="2962656"/>
            <a:ext cx="310896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4700016" y="2985516"/>
            <a:ext cx="146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</a:t>
            </a:r>
            <a:endParaRPr lang="en-US" sz="1050" dirty="0"/>
          </a:p>
        </p:txBody>
      </p:sp>
      <p:sp>
        <p:nvSpPr>
          <p:cNvPr id="78" name="Text 75"/>
          <p:cNvSpPr/>
          <p:nvPr/>
        </p:nvSpPr>
        <p:spPr>
          <a:xfrm>
            <a:off x="5157216" y="2889504"/>
            <a:ext cx="6336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缺 rank 不插補；不完整 panel 的 W 會標為不可用</a:t>
            </a:r>
            <a:endParaRPr lang="en-US" sz="1750" dirty="0"/>
          </a:p>
        </p:txBody>
      </p:sp>
      <p:sp>
        <p:nvSpPr>
          <p:cNvPr id="79" name="Shape 76"/>
          <p:cNvSpPr/>
          <p:nvPr/>
        </p:nvSpPr>
        <p:spPr>
          <a:xfrm>
            <a:off x="4617720" y="3739896"/>
            <a:ext cx="310896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4700016" y="3762756"/>
            <a:ext cx="146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3</a:t>
            </a:r>
            <a:endParaRPr lang="en-US" sz="1050" dirty="0"/>
          </a:p>
        </p:txBody>
      </p:sp>
      <p:sp>
        <p:nvSpPr>
          <p:cNvPr id="81" name="Text 78"/>
          <p:cNvSpPr/>
          <p:nvPr/>
        </p:nvSpPr>
        <p:spPr>
          <a:xfrm>
            <a:off x="5157216" y="3666744"/>
            <a:ext cx="6336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常數標籤 alpha 未定義，不回傳 1</a:t>
            </a:r>
            <a:endParaRPr lang="en-US" sz="1750" dirty="0"/>
          </a:p>
        </p:txBody>
      </p:sp>
      <p:sp>
        <p:nvSpPr>
          <p:cNvPr id="82" name="Shape 79"/>
          <p:cNvSpPr/>
          <p:nvPr/>
        </p:nvSpPr>
        <p:spPr>
          <a:xfrm>
            <a:off x="4617720" y="4517136"/>
            <a:ext cx="310896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4700016" y="4539996"/>
            <a:ext cx="146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4</a:t>
            </a:r>
            <a:endParaRPr lang="en-US" sz="1050" dirty="0"/>
          </a:p>
        </p:txBody>
      </p:sp>
      <p:sp>
        <p:nvSpPr>
          <p:cNvPr id="84" name="Text 81"/>
          <p:cNvSpPr/>
          <p:nvPr/>
        </p:nvSpPr>
        <p:spPr>
          <a:xfrm>
            <a:off x="5157216" y="4443984"/>
            <a:ext cx="6336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不同 subject 的可用 Judge panel 仍可能不同</a:t>
            </a:r>
            <a:endParaRPr lang="en-US" sz="1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18 / HUMAN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09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人工覆核要能改結論，也要保留原始事實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28216"/>
            <a:ext cx="11109960" cy="0"/>
          </a:xfrm>
          <a:prstGeom prst="line">
            <a:avLst/>
          </a:prstGeom>
          <a:noFill/>
          <a:ln w="12700">
            <a:solidFill>
              <a:srgbClr val="D4DD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879592"/>
            <a:ext cx="50292" cy="41148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5888736"/>
            <a:ext cx="10899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可追溯地修正結果，不覆寫歷史或其他案例。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XIAOAN  /  EVALUATION DESIGN v2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0826496" y="6473952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19 / 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650138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README § review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502920" y="2075688"/>
            <a:ext cx="384048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" y="209854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2569464"/>
            <a:ext cx="2090318" cy="1828800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2569464"/>
            <a:ext cx="2090318" cy="50292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2648" y="2779776"/>
            <a:ext cx="18708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PENDING REVIEW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21792" y="3575304"/>
            <a:ext cx="18525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原始自动分仍在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2593238" y="31089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›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2757830" y="2075688"/>
            <a:ext cx="384048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840126" y="209854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02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2757830" y="2569464"/>
            <a:ext cx="2090318" cy="1828800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757830" y="2569464"/>
            <a:ext cx="2090318" cy="50292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867558" y="2779776"/>
            <a:ext cx="18708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BLINDED PACKET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2876702" y="3575304"/>
            <a:ext cx="18525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填維度／紅線／證據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4848149" y="31089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›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5012741" y="2075688"/>
            <a:ext cx="384048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95037" y="209854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03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012741" y="2569464"/>
            <a:ext cx="2090318" cy="1828800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012741" y="2569464"/>
            <a:ext cx="2090318" cy="50292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122469" y="2779776"/>
            <a:ext cx="18708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VALIDATE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5131613" y="3575304"/>
            <a:ext cx="18525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immutable binding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完整性與refs</a:t>
            </a:r>
            <a:endParaRPr lang="en-US" sz="1550" dirty="0"/>
          </a:p>
        </p:txBody>
      </p:sp>
      <p:sp>
        <p:nvSpPr>
          <p:cNvPr id="32" name="Text 29"/>
          <p:cNvSpPr/>
          <p:nvPr/>
        </p:nvSpPr>
        <p:spPr>
          <a:xfrm>
            <a:off x="7103059" y="31089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›</a:t>
            </a:r>
            <a:endParaRPr lang="en-US" sz="2400" dirty="0"/>
          </a:p>
        </p:txBody>
      </p:sp>
      <p:sp>
        <p:nvSpPr>
          <p:cNvPr id="33" name="Shape 30"/>
          <p:cNvSpPr/>
          <p:nvPr/>
        </p:nvSpPr>
        <p:spPr>
          <a:xfrm>
            <a:off x="7267651" y="2075688"/>
            <a:ext cx="384048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349947" y="209854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04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7267651" y="2569464"/>
            <a:ext cx="2090318" cy="1828800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267651" y="2569464"/>
            <a:ext cx="2090318" cy="50292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377379" y="2779776"/>
            <a:ext cx="18708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ADJUDICATE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7386523" y="3575304"/>
            <a:ext cx="18525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有紅線分歧才裁決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automatic / human</a:t>
            </a:r>
            <a:endParaRPr lang="en-US" sz="1550" dirty="0"/>
          </a:p>
        </p:txBody>
      </p:sp>
      <p:sp>
        <p:nvSpPr>
          <p:cNvPr id="39" name="Text 36"/>
          <p:cNvSpPr/>
          <p:nvPr/>
        </p:nvSpPr>
        <p:spPr>
          <a:xfrm>
            <a:off x="9357970" y="31089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›</a:t>
            </a:r>
            <a:endParaRPr lang="en-US" sz="2400" dirty="0"/>
          </a:p>
        </p:txBody>
      </p:sp>
      <p:sp>
        <p:nvSpPr>
          <p:cNvPr id="40" name="Shape 37"/>
          <p:cNvSpPr/>
          <p:nvPr/>
        </p:nvSpPr>
        <p:spPr>
          <a:xfrm>
            <a:off x="9522562" y="2075688"/>
            <a:ext cx="384048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604858" y="209854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05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9522562" y="2569464"/>
            <a:ext cx="2090318" cy="1828800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9522562" y="2569464"/>
            <a:ext cx="2090318" cy="50292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632290" y="2779776"/>
            <a:ext cx="18708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FINAL</a:t>
            </a:r>
            <a:endParaRPr lang="en-US" sz="1800" dirty="0"/>
          </a:p>
        </p:txBody>
      </p:sp>
      <p:sp>
        <p:nvSpPr>
          <p:cNvPr id="45" name="Text 42"/>
          <p:cNvSpPr/>
          <p:nvPr/>
        </p:nvSpPr>
        <p:spPr>
          <a:xfrm>
            <a:off x="9641434" y="3575304"/>
            <a:ext cx="18525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原權重重算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final verdict</a:t>
            </a:r>
            <a:endParaRPr lang="en-US" sz="1550" dirty="0"/>
          </a:p>
        </p:txBody>
      </p:sp>
      <p:sp>
        <p:nvSpPr>
          <p:cNvPr id="46" name="Shape 43"/>
          <p:cNvSpPr/>
          <p:nvPr/>
        </p:nvSpPr>
        <p:spPr>
          <a:xfrm>
            <a:off x="502920" y="4773168"/>
            <a:ext cx="11109960" cy="667512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13232" y="4864608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保存 automatic / human / final；reviewer ID 是操作標記，不是身份認證。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19 / READOUT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09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報告先看資格與分母，再看平均分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28216"/>
            <a:ext cx="11109960" cy="0"/>
          </a:xfrm>
          <a:prstGeom prst="line">
            <a:avLst/>
          </a:prstGeom>
          <a:noFill/>
          <a:ln w="12700">
            <a:solidFill>
              <a:srgbClr val="D4DD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879592"/>
            <a:ext cx="50292" cy="41148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5888736"/>
            <a:ext cx="10899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可用樣本變少時，更高的平均分可能沒有可比性。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XIAOAN  /  EVALUATION DESIGN v2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0826496" y="6473952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20 / 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650138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README § reports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502920" y="1929384"/>
            <a:ext cx="2093976" cy="402336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" y="2002536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版本 / artifact state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2734056" y="1929384"/>
            <a:ext cx="2093976" cy="402336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88920" y="2002536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執行 / eligible / coverage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965192" y="1929384"/>
            <a:ext cx="2093976" cy="402336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0056" y="2002536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安全與品質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196328" y="1929384"/>
            <a:ext cx="2093976" cy="402336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51192" y="2002536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逐 case / turn evidence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9427464" y="1929384"/>
            <a:ext cx="2093976" cy="402336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482328" y="2002536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Baseline / experiments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02920" y="2660904"/>
            <a:ext cx="5440680" cy="2944368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2880360"/>
            <a:ext cx="4992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results.xlsx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713232" y="3493008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正式資料與證據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13232" y="4041648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01_Cases：狀態・原權重・來源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13232" y="4434840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02_Turns：對話与全文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713232" y="4828032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03_Metrics：分數・evidence refs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6172200" y="2660904"/>
            <a:ext cx="5440680" cy="2944368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82512" y="2880360"/>
            <a:ext cx="4992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report.md</a:t>
            </a:r>
            <a:endParaRPr lang="en-US" sz="2600" dirty="0"/>
          </a:p>
        </p:txBody>
      </p:sp>
      <p:sp>
        <p:nvSpPr>
          <p:cNvPr id="30" name="Text 27"/>
          <p:cNvSpPr/>
          <p:nvPr/>
        </p:nvSpPr>
        <p:spPr>
          <a:xfrm>
            <a:off x="6382512" y="3493008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面向決策的解讀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6382512" y="4041648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整體結論與限制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382512" y="4434840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逐案問題與最早失敗階段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6382512" y="4828032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可驗證假設與下一步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20 / IMPROVEMENT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09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從 finding 到改動，中間要有一個可反駁假設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28216"/>
            <a:ext cx="11109960" cy="0"/>
          </a:xfrm>
          <a:prstGeom prst="line">
            <a:avLst/>
          </a:prstGeom>
          <a:noFill/>
          <a:ln w="12700">
            <a:solidFill>
              <a:srgbClr val="D4DD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879592"/>
            <a:ext cx="50292" cy="41148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5888736"/>
            <a:ext cx="10899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沒有受控證據之前，推薦仍是 hypothesis。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XIAOAN  /  EVALUATION DESIGN v2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0826496" y="6473952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21 / 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650138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README § experiments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502920" y="1993392"/>
            <a:ext cx="1709928" cy="576072"/>
          </a:xfrm>
          <a:prstGeom prst="rect">
            <a:avLst/>
          </a:prstGeom>
          <a:solidFill>
            <a:srgbClr val="142B38"/>
          </a:solidFill>
          <a:ln w="7620">
            <a:solidFill>
              <a:srgbClr val="142B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" y="213969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Observation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368296" y="1993392"/>
            <a:ext cx="1709928" cy="576072"/>
          </a:xfrm>
          <a:prstGeom prst="rect">
            <a:avLst/>
          </a:prstGeom>
          <a:solidFill>
            <a:srgbClr val="142B38"/>
          </a:solidFill>
          <a:ln w="7620">
            <a:solidFill>
              <a:srgbClr val="142B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23160" y="213969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Hypothesis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233672" y="1993392"/>
            <a:ext cx="1709928" cy="576072"/>
          </a:xfrm>
          <a:prstGeom prst="rect">
            <a:avLst/>
          </a:prstGeom>
          <a:solidFill>
            <a:srgbClr val="142B38"/>
          </a:solidFill>
          <a:ln w="7620">
            <a:solidFill>
              <a:srgbClr val="142B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88536" y="213969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One variable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099048" y="1993392"/>
            <a:ext cx="1709928" cy="576072"/>
          </a:xfrm>
          <a:prstGeom prst="rect">
            <a:avLst/>
          </a:prstGeom>
          <a:solidFill>
            <a:srgbClr val="142B38"/>
          </a:solidFill>
          <a:ln w="7620">
            <a:solidFill>
              <a:srgbClr val="142B3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53912" y="213969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Paired runs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964424" y="1993392"/>
            <a:ext cx="1709928" cy="576072"/>
          </a:xfrm>
          <a:prstGeom prst="rect">
            <a:avLst/>
          </a:prstGeom>
          <a:solidFill>
            <a:srgbClr val="142B38"/>
          </a:solidFill>
          <a:ln w="7620">
            <a:solidFill>
              <a:srgbClr val="142B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19288" y="213969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Guardrails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9829800" y="1993392"/>
            <a:ext cx="1709928" cy="576072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884664" y="213969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Verdict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02920" y="2889504"/>
            <a:ext cx="11109960" cy="199339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8096" y="3108960"/>
            <a:ext cx="10588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合成示例：route 合理，但必要內容漏答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768096" y="3502152"/>
            <a:ext cx="10588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→ 假設：Composer 沒有利用已曝光證據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68096" y="3895344"/>
            <a:ext cx="10588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→ 固定 case / model / snapshot / Judge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68096" y="4288536"/>
            <a:ext cx="10588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→ 只改一項受控指令，再看 target 與安全回歸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40080" y="529437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目前預設 seeds 101 / 202 / 303；配置門檻不是通用科學標準。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21 / WHAT CHANGED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09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v2 修的是測量契約，不是把模型分數調高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28216"/>
            <a:ext cx="11109960" cy="0"/>
          </a:xfrm>
          <a:prstGeom prst="line">
            <a:avLst/>
          </a:prstGeom>
          <a:noFill/>
          <a:ln w="12700">
            <a:solidFill>
              <a:srgbClr val="D4DD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879592"/>
            <a:ext cx="50292" cy="41148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5888736"/>
            <a:ext cx="10899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升版造成的數字變化，不等於模型能力提升。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XIAOAN  /  EVALUATION DESIGN v2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0826496" y="6473952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22 / 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650138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README § versions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502920" y="1901952"/>
            <a:ext cx="5486400" cy="429768"/>
          </a:xfrm>
          <a:prstGeom prst="rect">
            <a:avLst/>
          </a:prstGeom>
          <a:solidFill>
            <a:srgbClr val="142B38"/>
          </a:solidFill>
          <a:ln w="7620">
            <a:solidFill>
              <a:srgbClr val="142B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196596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以前的可重現問題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989320" y="1901952"/>
            <a:ext cx="5623560" cy="429768"/>
          </a:xfrm>
          <a:prstGeom prst="rect">
            <a:avLst/>
          </a:prstGeom>
          <a:solidFill>
            <a:srgbClr val="142B38"/>
          </a:solidFill>
          <a:ln w="7620">
            <a:solidFill>
              <a:srgbClr val="142B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v2 的行為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02920" y="2331720"/>
            <a:ext cx="5486400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240487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timeout 合成品質 0</a:t>
            </a:r>
            <a:endParaRPr lang="en-US" sz="1530" dirty="0"/>
          </a:p>
        </p:txBody>
      </p:sp>
      <p:sp>
        <p:nvSpPr>
          <p:cNvPr id="18" name="Shape 15"/>
          <p:cNvSpPr/>
          <p:nvPr/>
        </p:nvSpPr>
        <p:spPr>
          <a:xfrm>
            <a:off x="5989320" y="2331720"/>
            <a:ext cx="5623560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6480" y="2404872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UNAVAILABLE / null；仍報缺失</a:t>
            </a:r>
            <a:endParaRPr lang="en-US" sz="1530" dirty="0"/>
          </a:p>
        </p:txBody>
      </p:sp>
      <p:sp>
        <p:nvSpPr>
          <p:cNvPr id="20" name="Shape 17"/>
          <p:cNvSpPr/>
          <p:nvPr/>
        </p:nvSpPr>
        <p:spPr>
          <a:xfrm>
            <a:off x="502920" y="2999232"/>
            <a:ext cx="5486400" cy="667512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307238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低品質也可顯示 PASS</a:t>
            </a:r>
            <a:endParaRPr lang="en-US" sz="1530" dirty="0"/>
          </a:p>
        </p:txBody>
      </p:sp>
      <p:sp>
        <p:nvSpPr>
          <p:cNvPr id="22" name="Shape 19"/>
          <p:cNvSpPr/>
          <p:nvPr/>
        </p:nvSpPr>
        <p:spPr>
          <a:xfrm>
            <a:off x="5989320" y="2999232"/>
            <a:ext cx="5623560" cy="667512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26480" y="3072384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明確 threshold；無配置不宣告合格</a:t>
            </a:r>
            <a:endParaRPr lang="en-US" sz="1530" dirty="0"/>
          </a:p>
        </p:txBody>
      </p:sp>
      <p:sp>
        <p:nvSpPr>
          <p:cNvPr id="24" name="Shape 21"/>
          <p:cNvSpPr/>
          <p:nvPr/>
        </p:nvSpPr>
        <p:spPr>
          <a:xfrm>
            <a:off x="502920" y="3666744"/>
            <a:ext cx="5486400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373989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三條總分／兩種報表不一致</a:t>
            </a:r>
            <a:endParaRPr lang="en-US" sz="1530" dirty="0"/>
          </a:p>
        </p:txBody>
      </p:sp>
      <p:sp>
        <p:nvSpPr>
          <p:cNvPr id="26" name="Shape 23"/>
          <p:cNvSpPr/>
          <p:nvPr/>
        </p:nvSpPr>
        <p:spPr>
          <a:xfrm>
            <a:off x="5989320" y="3666744"/>
            <a:ext cx="5623560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26480" y="3739896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統一動態加權、case-macro與維度median</a:t>
            </a:r>
            <a:endParaRPr lang="en-US" sz="1530" dirty="0"/>
          </a:p>
        </p:txBody>
      </p:sp>
      <p:sp>
        <p:nvSpPr>
          <p:cNvPr id="28" name="Shape 25"/>
          <p:cNvSpPr/>
          <p:nvPr/>
        </p:nvSpPr>
        <p:spPr>
          <a:xfrm>
            <a:off x="502920" y="4334256"/>
            <a:ext cx="5486400" cy="667512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" y="440740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not_use 與未知 memory 判錯</a:t>
            </a:r>
            <a:endParaRPr lang="en-US" sz="1530" dirty="0"/>
          </a:p>
        </p:txBody>
      </p:sp>
      <p:sp>
        <p:nvSpPr>
          <p:cNvPr id="30" name="Shape 27"/>
          <p:cNvSpPr/>
          <p:nvPr/>
        </p:nvSpPr>
        <p:spPr>
          <a:xfrm>
            <a:off x="5989320" y="4334256"/>
            <a:ext cx="5623560" cy="667512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26480" y="4407408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typed lifecycle + SKIP</a:t>
            </a:r>
            <a:endParaRPr lang="en-US" sz="1530" dirty="0"/>
          </a:p>
        </p:txBody>
      </p:sp>
      <p:sp>
        <p:nvSpPr>
          <p:cNvPr id="32" name="Shape 29"/>
          <p:cNvSpPr/>
          <p:nvPr/>
        </p:nvSpPr>
        <p:spPr>
          <a:xfrm>
            <a:off x="502920" y="5001768"/>
            <a:ext cx="5486400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0080" y="50749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自評混入、rank插補、常數alpha=1</a:t>
            </a:r>
            <a:endParaRPr lang="en-US" sz="1530" dirty="0"/>
          </a:p>
        </p:txBody>
      </p:sp>
      <p:sp>
        <p:nvSpPr>
          <p:cNvPr id="34" name="Shape 31"/>
          <p:cNvSpPr/>
          <p:nvPr/>
        </p:nvSpPr>
        <p:spPr>
          <a:xfrm>
            <a:off x="5989320" y="5001768"/>
            <a:ext cx="5623560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126480" y="507492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預設隔離；缺失不插補；退化不可用</a:t>
            </a:r>
            <a:endParaRPr lang="en-US" sz="153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22 / LIMITS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09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已經實作的能力，與仍待證明的能力分開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28216"/>
            <a:ext cx="11109960" cy="0"/>
          </a:xfrm>
          <a:prstGeom prst="line">
            <a:avLst/>
          </a:prstGeom>
          <a:noFill/>
          <a:ln w="12700">
            <a:solidFill>
              <a:srgbClr val="D4DD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879592"/>
            <a:ext cx="50292" cy="41148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5888736"/>
            <a:ext cx="10899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把未測到的地方寫出來，是評估可靠性的一部分。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XIAOAN  /  EVALUATION DESIGN v2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0826496" y="6473952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23 / 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650138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README § limits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502920" y="1901952"/>
            <a:ext cx="5486400" cy="429768"/>
          </a:xfrm>
          <a:prstGeom prst="rect">
            <a:avLst/>
          </a:prstGeom>
          <a:solidFill>
            <a:srgbClr val="142B38"/>
          </a:solidFill>
          <a:ln w="7620">
            <a:solidFill>
              <a:srgbClr val="142B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196596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已實作／已離線驗證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989320" y="1901952"/>
            <a:ext cx="5623560" cy="429768"/>
          </a:xfrm>
          <a:prstGeom prst="rect">
            <a:avLst/>
          </a:prstGeom>
          <a:solidFill>
            <a:srgbClr val="142B38"/>
          </a:solidFill>
          <a:ln w="7620">
            <a:solidFill>
              <a:srgbClr val="142B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0" y="1965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仍需資料、領域判定或新設計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02920" y="2331720"/>
            <a:ext cx="548640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2404872"/>
            <a:ext cx="5212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v2 scoring、null、threshold、report一致</a:t>
            </a:r>
            <a:endParaRPr lang="en-US" sz="1530" dirty="0"/>
          </a:p>
        </p:txBody>
      </p:sp>
      <p:sp>
        <p:nvSpPr>
          <p:cNvPr id="18" name="Shape 15"/>
          <p:cNvSpPr/>
          <p:nvPr/>
        </p:nvSpPr>
        <p:spPr>
          <a:xfrm>
            <a:off x="5989320" y="2331720"/>
            <a:ext cx="562356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6480" y="2404872"/>
            <a:ext cx="5349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逐情境rubric applicability與錨點</a:t>
            </a:r>
            <a:endParaRPr lang="en-US" sz="1530" dirty="0"/>
          </a:p>
        </p:txBody>
      </p:sp>
      <p:sp>
        <p:nvSpPr>
          <p:cNvPr id="20" name="Shape 17"/>
          <p:cNvSpPr/>
          <p:nvPr/>
        </p:nvSpPr>
        <p:spPr>
          <a:xfrm>
            <a:off x="502920" y="2916936"/>
            <a:ext cx="5486400" cy="585216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2990088"/>
            <a:ext cx="5212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typed oracle與coverage</a:t>
            </a:r>
            <a:endParaRPr lang="en-US" sz="1530" dirty="0"/>
          </a:p>
        </p:txBody>
      </p:sp>
      <p:sp>
        <p:nvSpPr>
          <p:cNvPr id="22" name="Shape 19"/>
          <p:cNvSpPr/>
          <p:nvPr/>
        </p:nvSpPr>
        <p:spPr>
          <a:xfrm>
            <a:off x="5989320" y="2916936"/>
            <a:ext cx="5623560" cy="585216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26480" y="2990088"/>
            <a:ext cx="5349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response/task oracle與正式scenario批准</a:t>
            </a:r>
            <a:endParaRPr lang="en-US" sz="1530" dirty="0"/>
          </a:p>
        </p:txBody>
      </p:sp>
      <p:sp>
        <p:nvSpPr>
          <p:cNvPr id="24" name="Shape 21"/>
          <p:cNvSpPr/>
          <p:nvPr/>
        </p:nvSpPr>
        <p:spPr>
          <a:xfrm>
            <a:off x="502920" y="3502152"/>
            <a:ext cx="548640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3575304"/>
            <a:ext cx="5212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memory八類observer</a:t>
            </a:r>
            <a:endParaRPr lang="en-US" sz="1530" dirty="0"/>
          </a:p>
        </p:txBody>
      </p:sp>
      <p:sp>
        <p:nvSpPr>
          <p:cNvPr id="26" name="Shape 23"/>
          <p:cNvSpPr/>
          <p:nvPr/>
        </p:nvSpPr>
        <p:spPr>
          <a:xfrm>
            <a:off x="5989320" y="3502152"/>
            <a:ext cx="562356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26480" y="3575304"/>
            <a:ext cx="5349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真實update／multi-session isolation harness</a:t>
            </a:r>
            <a:endParaRPr lang="en-US" sz="1530" dirty="0"/>
          </a:p>
        </p:txBody>
      </p:sp>
      <p:sp>
        <p:nvSpPr>
          <p:cNvPr id="28" name="Shape 25"/>
          <p:cNvSpPr/>
          <p:nvPr/>
        </p:nvSpPr>
        <p:spPr>
          <a:xfrm>
            <a:off x="502920" y="4087368"/>
            <a:ext cx="5486400" cy="585216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" y="4160520"/>
            <a:ext cx="5212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matrix／agreement／校準primitives</a:t>
            </a:r>
            <a:endParaRPr lang="en-US" sz="1530" dirty="0"/>
          </a:p>
        </p:txBody>
      </p:sp>
      <p:sp>
        <p:nvSpPr>
          <p:cNvPr id="30" name="Shape 27"/>
          <p:cNvSpPr/>
          <p:nvPr/>
        </p:nvSpPr>
        <p:spPr>
          <a:xfrm>
            <a:off x="5989320" y="4087368"/>
            <a:ext cx="5623560" cy="585216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26480" y="4160520"/>
            <a:ext cx="5349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共同獨立panel、凍結人類benchmark</a:t>
            </a:r>
            <a:endParaRPr lang="en-US" sz="1530" dirty="0"/>
          </a:p>
        </p:txBody>
      </p:sp>
      <p:sp>
        <p:nvSpPr>
          <p:cNvPr id="32" name="Shape 29"/>
          <p:cNvSpPr/>
          <p:nvPr/>
        </p:nvSpPr>
        <p:spPr>
          <a:xfrm>
            <a:off x="502920" y="4672584"/>
            <a:ext cx="548640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0080" y="4745736"/>
            <a:ext cx="5212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有限tool／goal欄位</a:t>
            </a:r>
            <a:endParaRPr lang="en-US" sz="1530" dirty="0"/>
          </a:p>
        </p:txBody>
      </p:sp>
      <p:sp>
        <p:nvSpPr>
          <p:cNvPr id="34" name="Shape 31"/>
          <p:cNvSpPr/>
          <p:nvPr/>
        </p:nvSpPr>
        <p:spPr>
          <a:xfrm>
            <a:off x="5989320" y="4672584"/>
            <a:ext cx="562356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126480" y="4745736"/>
            <a:ext cx="5349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工具結果／權限／副作用、verified goal</a:t>
            </a:r>
            <a:endParaRPr lang="en-US" sz="1530" dirty="0"/>
          </a:p>
        </p:txBody>
      </p:sp>
      <p:sp>
        <p:nvSpPr>
          <p:cNvPr id="36" name="Shape 33"/>
          <p:cNvSpPr/>
          <p:nvPr/>
        </p:nvSpPr>
        <p:spPr>
          <a:xfrm>
            <a:off x="502920" y="5257800"/>
            <a:ext cx="5486400" cy="585216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0080" y="5330952"/>
            <a:ext cx="5212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配對實驗與stability流程</a:t>
            </a:r>
            <a:endParaRPr lang="en-US" sz="1530" dirty="0"/>
          </a:p>
        </p:txBody>
      </p:sp>
      <p:sp>
        <p:nvSpPr>
          <p:cNvPr id="38" name="Shape 35"/>
          <p:cNvSpPr/>
          <p:nvPr/>
        </p:nvSpPr>
        <p:spPr>
          <a:xfrm>
            <a:off x="5989320" y="5257800"/>
            <a:ext cx="5623560" cy="585216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126480" y="5330952"/>
            <a:ext cx="5349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case-cluster CI、完整pairwise CLI</a:t>
            </a:r>
            <a:endParaRPr lang="en-US" sz="153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23 / TEAM DISCUSSION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09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團隊接下來一起完成三件事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28216"/>
            <a:ext cx="11109960" cy="0"/>
          </a:xfrm>
          <a:prstGeom prst="line">
            <a:avLst/>
          </a:prstGeom>
          <a:noFill/>
          <a:ln w="12700">
            <a:solidFill>
              <a:srgbClr val="D4DD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879592"/>
            <a:ext cx="50292" cy="41148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5888736"/>
            <a:ext cx="10899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討論焦點：誰批准 oracle、誰接 telemetry、哪個實驗先跑？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XIAOAN  /  EVALUATION DESIGN v2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0826496" y="6473952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24 / 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650138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README § limits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502920" y="2011680"/>
            <a:ext cx="3569208" cy="3346704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3232" y="2240280"/>
            <a:ext cx="3148584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5528" y="2263140"/>
            <a:ext cx="2983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DOMAIN REVIEW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13232" y="2862072"/>
            <a:ext cx="31485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把任務定義清楚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713232" y="3840480"/>
            <a:ext cx="314858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審閱 TC-17／52 response oracle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補允許替代與禁止行為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確認rubric情境適用性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4273296" y="2011680"/>
            <a:ext cx="3569208" cy="3346704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83608" y="2240280"/>
            <a:ext cx="3148584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65904" y="2263140"/>
            <a:ext cx="2983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483608" y="2862072"/>
            <a:ext cx="31485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把觀察接到實際系統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4483608" y="3840480"/>
            <a:ext cx="314858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對接 per-fact memory telemetry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建立跨session harness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固定版本與回歸流程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8043672" y="2011680"/>
            <a:ext cx="3569208" cy="3346704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53984" y="2240280"/>
            <a:ext cx="3148584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36280" y="2263140"/>
            <a:ext cx="2983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8253984" y="2862072"/>
            <a:ext cx="31485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證明裁判與比較可靠</a:t>
            </a:r>
            <a:endParaRPr lang="en-US" sz="2300" dirty="0"/>
          </a:p>
        </p:txBody>
      </p:sp>
      <p:sp>
        <p:nvSpPr>
          <p:cNvPr id="26" name="Text 23"/>
          <p:cNvSpPr/>
          <p:nvPr/>
        </p:nvSpPr>
        <p:spPr>
          <a:xfrm>
            <a:off x="8253984" y="3840480"/>
            <a:ext cx="314858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凍結人工 benchmark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共同獨立 Judge panel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以配對實驗驗證一個改動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APPENDIX A / METRIC CONTRACTS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09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備查｜指標的分子、分母與缺失政策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28216"/>
            <a:ext cx="11109960" cy="0"/>
          </a:xfrm>
          <a:prstGeom prst="line">
            <a:avLst/>
          </a:prstGeom>
          <a:noFill/>
          <a:ln w="12700">
            <a:solidFill>
              <a:srgbClr val="D4DD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879592"/>
            <a:ext cx="50292" cy="41148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5888736"/>
            <a:ext cx="10899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每個 metric 都要有 unit、eligibility、denominator 與 evidence。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XIAOAN  /  EVALUATION DESIGN v2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0826496" y="6473952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25 / 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650138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README § metrics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502920" y="1901952"/>
            <a:ext cx="2788920" cy="429768"/>
          </a:xfrm>
          <a:prstGeom prst="rect">
            <a:avLst/>
          </a:prstGeom>
          <a:solidFill>
            <a:srgbClr val="142B38"/>
          </a:solidFill>
          <a:ln w="7620">
            <a:solidFill>
              <a:srgbClr val="142B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19659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指標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291840" y="1901952"/>
            <a:ext cx="3822192" cy="429768"/>
          </a:xfrm>
          <a:prstGeom prst="rect">
            <a:avLst/>
          </a:prstGeom>
          <a:solidFill>
            <a:srgbClr val="142B38"/>
          </a:solidFill>
          <a:ln w="7620">
            <a:solidFill>
              <a:srgbClr val="142B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29000" y="1965960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分子 / 分母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114032" y="1901952"/>
            <a:ext cx="4498848" cy="429768"/>
          </a:xfrm>
          <a:prstGeom prst="rect">
            <a:avLst/>
          </a:prstGeom>
          <a:solidFill>
            <a:srgbClr val="142B38"/>
          </a:solidFill>
          <a:ln w="7620">
            <a:solidFill>
              <a:srgbClr val="142B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51192" y="1965960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缺失／解讀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2331720"/>
            <a:ext cx="278892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2404872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Route accepted</a:t>
            </a:r>
            <a:endParaRPr lang="en-US" sz="1530" dirty="0"/>
          </a:p>
        </p:txBody>
      </p:sp>
      <p:sp>
        <p:nvSpPr>
          <p:cNvPr id="20" name="Shape 17"/>
          <p:cNvSpPr/>
          <p:nvPr/>
        </p:nvSpPr>
        <p:spPr>
          <a:xfrm>
            <a:off x="3291840" y="2331720"/>
            <a:ext cx="3822192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29000" y="2404872"/>
            <a:ext cx="35478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actual命中 / 非空approved oracle turns</a:t>
            </a:r>
            <a:endParaRPr lang="en-US" sz="1530" dirty="0"/>
          </a:p>
        </p:txBody>
      </p:sp>
      <p:sp>
        <p:nvSpPr>
          <p:cNvPr id="22" name="Shape 19"/>
          <p:cNvSpPr/>
          <p:nvPr/>
        </p:nvSpPr>
        <p:spPr>
          <a:xfrm>
            <a:off x="7114032" y="2331720"/>
            <a:ext cx="4498848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251192" y="2404872"/>
            <a:ext cx="42245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空oracle排除</a:t>
            </a:r>
            <a:endParaRPr lang="en-US" sz="1530" dirty="0"/>
          </a:p>
        </p:txBody>
      </p:sp>
      <p:sp>
        <p:nvSpPr>
          <p:cNvPr id="24" name="Shape 21"/>
          <p:cNvSpPr/>
          <p:nvPr/>
        </p:nvSpPr>
        <p:spPr>
          <a:xfrm>
            <a:off x="502920" y="2916936"/>
            <a:ext cx="2788920" cy="585216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2990088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Required recall</a:t>
            </a:r>
            <a:endParaRPr lang="en-US" sz="1530" dirty="0"/>
          </a:p>
        </p:txBody>
      </p:sp>
      <p:sp>
        <p:nvSpPr>
          <p:cNvPr id="26" name="Shape 23"/>
          <p:cNvSpPr/>
          <p:nvPr/>
        </p:nvSpPr>
        <p:spPr>
          <a:xfrm>
            <a:off x="3291840" y="2916936"/>
            <a:ext cx="3822192" cy="585216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29000" y="2990088"/>
            <a:ext cx="35478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supported required / required claims</a:t>
            </a:r>
            <a:endParaRPr lang="en-US" sz="1530" dirty="0"/>
          </a:p>
        </p:txBody>
      </p:sp>
      <p:sp>
        <p:nvSpPr>
          <p:cNvPr id="28" name="Shape 25"/>
          <p:cNvSpPr/>
          <p:nvPr/>
        </p:nvSpPr>
        <p:spPr>
          <a:xfrm>
            <a:off x="7114032" y="2916936"/>
            <a:ext cx="4498848" cy="585216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251192" y="2990088"/>
            <a:ext cx="42245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沒有gold不可推完整度</a:t>
            </a:r>
            <a:endParaRPr lang="en-US" sz="1530" dirty="0"/>
          </a:p>
        </p:txBody>
      </p:sp>
      <p:sp>
        <p:nvSpPr>
          <p:cNvPr id="30" name="Shape 27"/>
          <p:cNvSpPr/>
          <p:nvPr/>
        </p:nvSpPr>
        <p:spPr>
          <a:xfrm>
            <a:off x="502920" y="3502152"/>
            <a:ext cx="278892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0080" y="3575304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Faithfulness</a:t>
            </a:r>
            <a:endParaRPr lang="en-US" sz="1530" dirty="0"/>
          </a:p>
        </p:txBody>
      </p:sp>
      <p:sp>
        <p:nvSpPr>
          <p:cNvPr id="32" name="Shape 29"/>
          <p:cNvSpPr/>
          <p:nvPr/>
        </p:nvSpPr>
        <p:spPr>
          <a:xfrm>
            <a:off x="3291840" y="3502152"/>
            <a:ext cx="3822192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429000" y="3575304"/>
            <a:ext cx="35478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supported / judged unique claims</a:t>
            </a:r>
            <a:endParaRPr lang="en-US" sz="1530" dirty="0"/>
          </a:p>
        </p:txBody>
      </p:sp>
      <p:sp>
        <p:nvSpPr>
          <p:cNvPr id="34" name="Shape 31"/>
          <p:cNvSpPr/>
          <p:nvPr/>
        </p:nvSpPr>
        <p:spPr>
          <a:xfrm>
            <a:off x="7114032" y="3502152"/>
            <a:ext cx="4498848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251192" y="3575304"/>
            <a:ext cx="42245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只對給定evidence</a:t>
            </a:r>
            <a:endParaRPr lang="en-US" sz="1530" dirty="0"/>
          </a:p>
        </p:txBody>
      </p:sp>
      <p:sp>
        <p:nvSpPr>
          <p:cNvPr id="36" name="Shape 33"/>
          <p:cNvSpPr/>
          <p:nvPr/>
        </p:nvSpPr>
        <p:spPr>
          <a:xfrm>
            <a:off x="502920" y="4087368"/>
            <a:ext cx="2788920" cy="585216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0080" y="4160520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Unsupported rate</a:t>
            </a:r>
            <a:endParaRPr lang="en-US" sz="1530" dirty="0"/>
          </a:p>
        </p:txBody>
      </p:sp>
      <p:sp>
        <p:nvSpPr>
          <p:cNvPr id="38" name="Shape 35"/>
          <p:cNvSpPr/>
          <p:nvPr/>
        </p:nvSpPr>
        <p:spPr>
          <a:xfrm>
            <a:off x="3291840" y="4087368"/>
            <a:ext cx="3822192" cy="585216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429000" y="4160520"/>
            <a:ext cx="35478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(judged − supported) / judged</a:t>
            </a:r>
            <a:endParaRPr lang="en-US" sz="1530" dirty="0"/>
          </a:p>
        </p:txBody>
      </p:sp>
      <p:sp>
        <p:nvSpPr>
          <p:cNvPr id="40" name="Shape 37"/>
          <p:cNvSpPr/>
          <p:nvPr/>
        </p:nvSpPr>
        <p:spPr>
          <a:xfrm>
            <a:off x="7114032" y="4087368"/>
            <a:ext cx="4498848" cy="585216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251192" y="4160520"/>
            <a:ext cx="42245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required但unsupported也計入</a:t>
            </a:r>
            <a:endParaRPr lang="en-US" sz="1530" dirty="0"/>
          </a:p>
        </p:txBody>
      </p:sp>
      <p:sp>
        <p:nvSpPr>
          <p:cNvPr id="42" name="Shape 39"/>
          <p:cNvSpPr/>
          <p:nvPr/>
        </p:nvSpPr>
        <p:spPr>
          <a:xfrm>
            <a:off x="502920" y="4672584"/>
            <a:ext cx="278892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0080" y="4745736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Semantic support</a:t>
            </a:r>
            <a:endParaRPr lang="en-US" sz="1530" dirty="0"/>
          </a:p>
        </p:txBody>
      </p:sp>
      <p:sp>
        <p:nvSpPr>
          <p:cNvPr id="44" name="Shape 41"/>
          <p:cNvSpPr/>
          <p:nvPr/>
        </p:nvSpPr>
        <p:spPr>
          <a:xfrm>
            <a:off x="3291840" y="4672584"/>
            <a:ext cx="3822192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429000" y="4745736"/>
            <a:ext cx="35478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每claim最大relation權重 / claims</a:t>
            </a:r>
            <a:endParaRPr lang="en-US" sz="1530" dirty="0"/>
          </a:p>
        </p:txBody>
      </p:sp>
      <p:sp>
        <p:nvSpPr>
          <p:cNvPr id="46" name="Shape 43"/>
          <p:cNvSpPr/>
          <p:nvPr/>
        </p:nvSpPr>
        <p:spPr>
          <a:xfrm>
            <a:off x="7114032" y="4672584"/>
            <a:ext cx="4498848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251192" y="4745736"/>
            <a:ext cx="42245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layer可重疊；非因果</a:t>
            </a:r>
            <a:endParaRPr lang="en-US" sz="1530" dirty="0"/>
          </a:p>
        </p:txBody>
      </p:sp>
      <p:sp>
        <p:nvSpPr>
          <p:cNvPr id="48" name="Shape 45"/>
          <p:cNvSpPr/>
          <p:nvPr/>
        </p:nvSpPr>
        <p:spPr>
          <a:xfrm>
            <a:off x="502920" y="5257800"/>
            <a:ext cx="2788920" cy="585216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40080" y="5330952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Memory P/R</a:t>
            </a:r>
            <a:endParaRPr lang="en-US" sz="1530" dirty="0"/>
          </a:p>
        </p:txBody>
      </p:sp>
      <p:sp>
        <p:nvSpPr>
          <p:cNvPr id="50" name="Shape 47"/>
          <p:cNvSpPr/>
          <p:nvPr/>
        </p:nvSpPr>
        <p:spPr>
          <a:xfrm>
            <a:off x="3291840" y="5257800"/>
            <a:ext cx="3822192" cy="585216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429000" y="5330952"/>
            <a:ext cx="35478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fact TP/(TP+FP)、TP/(TP+FN)</a:t>
            </a:r>
            <a:endParaRPr lang="en-US" sz="1530" dirty="0"/>
          </a:p>
        </p:txBody>
      </p:sp>
      <p:sp>
        <p:nvSpPr>
          <p:cNvPr id="52" name="Shape 49"/>
          <p:cNvSpPr/>
          <p:nvPr/>
        </p:nvSpPr>
        <p:spPr>
          <a:xfrm>
            <a:off x="7114032" y="5257800"/>
            <a:ext cx="4498848" cy="585216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251192" y="5330952"/>
            <a:ext cx="42245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缺retrieval telemetry不補FN</a:t>
            </a:r>
            <a:endParaRPr lang="en-US" sz="153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APPENDIX B / RUNBOOK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09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備查｜兩種執行入口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28216"/>
            <a:ext cx="11109960" cy="0"/>
          </a:xfrm>
          <a:prstGeom prst="line">
            <a:avLst/>
          </a:prstGeom>
          <a:noFill/>
          <a:ln w="12700">
            <a:solidFill>
              <a:srgbClr val="D4DD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879592"/>
            <a:ext cx="50292" cy="41148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5888736"/>
            <a:ext cx="10899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兩個 project 使用獨立 virtualenv；live run 需要真實 endpoint 與配置。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XIAOAN  /  EVALUATION DESIGN v2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0826496" y="6473952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26 / 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650138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README § usage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502920" y="1892808"/>
            <a:ext cx="11109960" cy="1819656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04088" y="2029968"/>
            <a:ext cx="1554480" cy="274320"/>
          </a:xfrm>
          <a:prstGeom prst="rect">
            <a:avLst/>
          </a:prstGeom>
          <a:solidFill>
            <a:srgbClr val="142B38"/>
          </a:solidFill>
          <a:ln w="7620">
            <a:solidFill>
              <a:srgbClr val="142B3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6384" y="2052828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ORDINARY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459736" y="2057400"/>
            <a:ext cx="889711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B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xiaoan-eval run test-cases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2B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--base-url http://127.0.0.1:8000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2B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--judge-plugin company_eval_plugins:judge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2B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--context-provider company_eval_plugins:authoritative_context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2B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--manifest manifest.json --output runs/team-demo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02920" y="3849624"/>
            <a:ext cx="11109960" cy="1819656"/>
          </a:xfrm>
          <a:prstGeom prst="rect">
            <a:avLst/>
          </a:prstGeom>
          <a:solidFill>
            <a:srgbClr val="E2EFEB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04088" y="3986784"/>
            <a:ext cx="1554480" cy="27432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6384" y="40096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MATRIX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459736" y="4014216"/>
            <a:ext cx="889711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B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xiaoan-eval matrix test-cases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2B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--subject-transport company_eval_plugins:xiaoan_chatflow_transport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2B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--judge-transport company_eval_plugins:multimodel_transport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2B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--subjects private/subjects.json --judges private/judges.json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42B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--output runs/team-matrix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APPENDIX C / REPRODUCIBILITY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09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備查｜重現一個結果，至少固定哪些東西？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28216"/>
            <a:ext cx="11109960" cy="0"/>
          </a:xfrm>
          <a:prstGeom prst="line">
            <a:avLst/>
          </a:prstGeom>
          <a:noFill/>
          <a:ln w="12700">
            <a:solidFill>
              <a:srgbClr val="D4DD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879592"/>
            <a:ext cx="50292" cy="41148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5888736"/>
            <a:ext cx="10899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model 名稱相同，不足以保證兩次評估可比。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XIAOAN  /  EVALUATION DESIGN v2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0826496" y="6473952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27 / 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650138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README § versions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502920" y="2011680"/>
            <a:ext cx="3569208" cy="3346704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3232" y="2240280"/>
            <a:ext cx="3148584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5528" y="2263140"/>
            <a:ext cx="2983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PRODUCT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13232" y="2862072"/>
            <a:ext cx="31485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被評系統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713232" y="3840480"/>
            <a:ext cx="314858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deployment / policy / guard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Prompt hashes / knowledge版本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subject models / hyperparameters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4273296" y="2011680"/>
            <a:ext cx="3569208" cy="3346704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83608" y="2240280"/>
            <a:ext cx="3148584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65904" y="2263140"/>
            <a:ext cx="2983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MEASUREMENT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483608" y="2862072"/>
            <a:ext cx="31485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評估契約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4483608" y="3840480"/>
            <a:ext cx="314858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case digests / oracle批准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scoring v2 / rubric / threshold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Judge model / prompt / schema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8043672" y="2011680"/>
            <a:ext cx="3569208" cy="3346704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53984" y="2240280"/>
            <a:ext cx="3148584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36280" y="2263140"/>
            <a:ext cx="2983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EXECUTION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8253984" y="2862072"/>
            <a:ext cx="31485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本次運行</a:t>
            </a:r>
            <a:endParaRPr lang="en-US" sz="2300" dirty="0"/>
          </a:p>
        </p:txBody>
      </p:sp>
      <p:sp>
        <p:nvSpPr>
          <p:cNvPr id="26" name="Text 23"/>
          <p:cNvSpPr/>
          <p:nvPr/>
        </p:nvSpPr>
        <p:spPr>
          <a:xfrm>
            <a:off x="8253984" y="3840480"/>
            <a:ext cx="314858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seed / retry / concurrency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answer identity / snapshot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errors / timing / token telemetry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APPENDIX D / LEGACY SEMANTICS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09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備查｜三個名稱，不能按字面過度解讀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28216"/>
            <a:ext cx="11109960" cy="0"/>
          </a:xfrm>
          <a:prstGeom prst="line">
            <a:avLst/>
          </a:prstGeom>
          <a:noFill/>
          <a:ln w="12700">
            <a:solidFill>
              <a:srgbClr val="D4DD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879592"/>
            <a:ext cx="50292" cy="41148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5888736"/>
            <a:ext cx="10899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以實際公式與所需證據解讀，不按欄位名稱猜測。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XIAOAN  /  EVALUATION DESIGN v2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0826496" y="6473952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28 / 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650138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README § limits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502920" y="1901952"/>
            <a:ext cx="2788920" cy="429768"/>
          </a:xfrm>
          <a:prstGeom prst="rect">
            <a:avLst/>
          </a:prstGeom>
          <a:solidFill>
            <a:srgbClr val="142B38"/>
          </a:solidFill>
          <a:ln w="7620">
            <a:solidFill>
              <a:srgbClr val="142B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19659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現有名稱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291840" y="1901952"/>
            <a:ext cx="3822192" cy="429768"/>
          </a:xfrm>
          <a:prstGeom prst="rect">
            <a:avLst/>
          </a:prstGeom>
          <a:solidFill>
            <a:srgbClr val="142B38"/>
          </a:solidFill>
          <a:ln w="7620">
            <a:solidFill>
              <a:srgbClr val="142B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29000" y="1965960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實際衡量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114032" y="1901952"/>
            <a:ext cx="4498848" cy="429768"/>
          </a:xfrm>
          <a:prstGeom prst="rect">
            <a:avLst/>
          </a:prstGeom>
          <a:solidFill>
            <a:srgbClr val="142B38"/>
          </a:solidFill>
          <a:ln w="7620">
            <a:solidFill>
              <a:srgbClr val="142B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51192" y="1965960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還缺什麼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2331720"/>
            <a:ext cx="2788920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240487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correctness_f1</a:t>
            </a:r>
            <a:endParaRPr lang="en-US" sz="1530" dirty="0"/>
          </a:p>
        </p:txBody>
      </p:sp>
      <p:sp>
        <p:nvSpPr>
          <p:cNvPr id="20" name="Shape 17"/>
          <p:cNvSpPr/>
          <p:nvPr/>
        </p:nvSpPr>
        <p:spPr>
          <a:xfrm>
            <a:off x="3291840" y="2331720"/>
            <a:ext cx="3822192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29000" y="2404872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required completeness的legacy別名</a:t>
            </a:r>
            <a:endParaRPr lang="en-US" sz="1530" dirty="0"/>
          </a:p>
        </p:txBody>
      </p:sp>
      <p:sp>
        <p:nvSpPr>
          <p:cNvPr id="22" name="Shape 19"/>
          <p:cNvSpPr/>
          <p:nvPr/>
        </p:nvSpPr>
        <p:spPr>
          <a:xfrm>
            <a:off x="7114032" y="2331720"/>
            <a:ext cx="4498848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251192" y="2404872"/>
            <a:ext cx="4224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獨立外部fact gold與完整claim inventory</a:t>
            </a:r>
            <a:endParaRPr lang="en-US" sz="1530" dirty="0"/>
          </a:p>
        </p:txBody>
      </p:sp>
      <p:sp>
        <p:nvSpPr>
          <p:cNvPr id="24" name="Shape 21"/>
          <p:cNvSpPr/>
          <p:nvPr/>
        </p:nvSpPr>
        <p:spPr>
          <a:xfrm>
            <a:off x="502920" y="2999232"/>
            <a:ext cx="2788920" cy="667512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307238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goal_completion_rate</a:t>
            </a:r>
            <a:endParaRPr lang="en-US" sz="1530" dirty="0"/>
          </a:p>
        </p:txBody>
      </p:sp>
      <p:sp>
        <p:nvSpPr>
          <p:cNvPr id="26" name="Shape 23"/>
          <p:cNvSpPr/>
          <p:nvPr/>
        </p:nvSpPr>
        <p:spPr>
          <a:xfrm>
            <a:off x="3291840" y="2999232"/>
            <a:ext cx="3822192" cy="667512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29000" y="3072384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expected_goal == actual_goal</a:t>
            </a:r>
            <a:endParaRPr lang="en-US" sz="1530" dirty="0"/>
          </a:p>
        </p:txBody>
      </p:sp>
      <p:sp>
        <p:nvSpPr>
          <p:cNvPr id="28" name="Shape 25"/>
          <p:cNvSpPr/>
          <p:nvPr/>
        </p:nvSpPr>
        <p:spPr>
          <a:xfrm>
            <a:off x="7114032" y="2999232"/>
            <a:ext cx="4498848" cy="667512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251192" y="3072384"/>
            <a:ext cx="4224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可驗證的完成狀態／結果</a:t>
            </a:r>
            <a:endParaRPr lang="en-US" sz="1530" dirty="0"/>
          </a:p>
        </p:txBody>
      </p:sp>
      <p:sp>
        <p:nvSpPr>
          <p:cNvPr id="30" name="Shape 27"/>
          <p:cNvSpPr/>
          <p:nvPr/>
        </p:nvSpPr>
        <p:spPr>
          <a:xfrm>
            <a:off x="502920" y="3666744"/>
            <a:ext cx="2788920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0080" y="373989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step_efficiency</a:t>
            </a:r>
            <a:endParaRPr lang="en-US" sz="1530" dirty="0"/>
          </a:p>
        </p:txBody>
      </p:sp>
      <p:sp>
        <p:nvSpPr>
          <p:cNvPr id="32" name="Shape 29"/>
          <p:cNvSpPr/>
          <p:nvPr/>
        </p:nvSpPr>
        <p:spPr>
          <a:xfrm>
            <a:off x="3291840" y="3666744"/>
            <a:ext cx="3822192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429000" y="3739896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min(1, max_steps / steps)</a:t>
            </a:r>
            <a:endParaRPr lang="en-US" sz="1530" dirty="0"/>
          </a:p>
        </p:txBody>
      </p:sp>
      <p:sp>
        <p:nvSpPr>
          <p:cNvPr id="34" name="Shape 31"/>
          <p:cNvSpPr/>
          <p:nvPr/>
        </p:nvSpPr>
        <p:spPr>
          <a:xfrm>
            <a:off x="7114032" y="3666744"/>
            <a:ext cx="4498848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251192" y="3739896"/>
            <a:ext cx="4224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成功條件、成本與行動有效性</a:t>
            </a:r>
            <a:endParaRPr lang="en-US" sz="1530" dirty="0"/>
          </a:p>
        </p:txBody>
      </p:sp>
      <p:sp>
        <p:nvSpPr>
          <p:cNvPr id="36" name="Shape 33"/>
          <p:cNvSpPr/>
          <p:nvPr/>
        </p:nvSpPr>
        <p:spPr>
          <a:xfrm>
            <a:off x="502920" y="4334256"/>
            <a:ext cx="2788920" cy="667512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0080" y="440740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tool matching</a:t>
            </a:r>
            <a:endParaRPr lang="en-US" sz="1530" dirty="0"/>
          </a:p>
        </p:txBody>
      </p:sp>
      <p:sp>
        <p:nvSpPr>
          <p:cNvPr id="38" name="Shape 35"/>
          <p:cNvSpPr/>
          <p:nvPr/>
        </p:nvSpPr>
        <p:spPr>
          <a:xfrm>
            <a:off x="3291840" y="4334256"/>
            <a:ext cx="3822192" cy="667512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429000" y="4407408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名稱／參數／序列符合</a:t>
            </a:r>
            <a:endParaRPr lang="en-US" sz="1530" dirty="0"/>
          </a:p>
        </p:txBody>
      </p:sp>
      <p:sp>
        <p:nvSpPr>
          <p:cNvPr id="40" name="Shape 37"/>
          <p:cNvSpPr/>
          <p:nvPr/>
        </p:nvSpPr>
        <p:spPr>
          <a:xfrm>
            <a:off x="7114032" y="4334256"/>
            <a:ext cx="4498848" cy="667512"/>
          </a:xfrm>
          <a:prstGeom prst="rect">
            <a:avLst/>
          </a:prstGeom>
          <a:solidFill>
            <a:srgbClr val="F5F3EE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251192" y="4407408"/>
            <a:ext cx="4224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權限、postconditions、冪等／副作用</a:t>
            </a:r>
            <a:endParaRPr lang="en-US" sz="1530" dirty="0"/>
          </a:p>
        </p:txBody>
      </p:sp>
      <p:sp>
        <p:nvSpPr>
          <p:cNvPr id="42" name="Shape 39"/>
          <p:cNvSpPr/>
          <p:nvPr/>
        </p:nvSpPr>
        <p:spPr>
          <a:xfrm>
            <a:off x="502920" y="5001768"/>
            <a:ext cx="2788920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0080" y="50749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layer support</a:t>
            </a:r>
            <a:endParaRPr lang="en-US" sz="1530" dirty="0"/>
          </a:p>
        </p:txBody>
      </p:sp>
      <p:sp>
        <p:nvSpPr>
          <p:cNvPr id="44" name="Shape 41"/>
          <p:cNvSpPr/>
          <p:nvPr/>
        </p:nvSpPr>
        <p:spPr>
          <a:xfrm>
            <a:off x="3291840" y="5001768"/>
            <a:ext cx="3822192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429000" y="5074920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某層能支持claim</a:t>
            </a:r>
            <a:endParaRPr lang="en-US" sz="1530" dirty="0"/>
          </a:p>
        </p:txBody>
      </p:sp>
      <p:sp>
        <p:nvSpPr>
          <p:cNvPr id="46" name="Shape 43"/>
          <p:cNvSpPr/>
          <p:nvPr/>
        </p:nvSpPr>
        <p:spPr>
          <a:xfrm>
            <a:off x="7114032" y="5001768"/>
            <a:ext cx="4498848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251192" y="5074920"/>
            <a:ext cx="4224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因果依賴與互斥來源占比</a:t>
            </a:r>
            <a:endParaRPr lang="en-US" sz="153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APPENDIX E / VALIDITY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09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備查｜校準與統計推論的最低要求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28216"/>
            <a:ext cx="11109960" cy="0"/>
          </a:xfrm>
          <a:prstGeom prst="line">
            <a:avLst/>
          </a:prstGeom>
          <a:noFill/>
          <a:ln w="12700">
            <a:solidFill>
              <a:srgbClr val="D4DD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879592"/>
            <a:ext cx="50292" cy="41148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5888736"/>
            <a:ext cx="10899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一致性、效度、可比性與不確定性，必須分別證明。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XIAOAN  /  EVALUATION DESIGN v2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0826496" y="6473952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29 / 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650138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README § review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502920" y="2011680"/>
            <a:ext cx="3569208" cy="3346704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3232" y="2240280"/>
            <a:ext cx="3148584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5528" y="2263140"/>
            <a:ext cx="2983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HUMAN ANCHORS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13232" y="2862072"/>
            <a:ext cx="31485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Judge 是否可信？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713232" y="3840480"/>
            <a:ext cx="314858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凍結領域人工benchmark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紅線sensitivity／漏判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維度誤差、claim/span agreement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4273296" y="2011680"/>
            <a:ext cx="3569208" cy="3346704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83608" y="2240280"/>
            <a:ext cx="3148584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65904" y="2263140"/>
            <a:ext cx="2983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FAIR COMPARISON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483608" y="2862072"/>
            <a:ext cx="31485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版本是否可比？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4483608" y="3840480"/>
            <a:ext cx="314858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共同case與獨立Judge panel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配對control/candidate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coverage與缺失原因分層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8043672" y="2011680"/>
            <a:ext cx="3569208" cy="3346704"/>
          </a:xfrm>
          <a:prstGeom prst="rect">
            <a:avLst/>
          </a:prstGeom>
          <a:solidFill>
            <a:srgbClr val="FFFFFF"/>
          </a:solidFill>
          <a:ln w="7620">
            <a:solidFill>
              <a:srgbClr val="D4DDD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53984" y="2240280"/>
            <a:ext cx="3148584" cy="274320"/>
          </a:xfrm>
          <a:prstGeom prst="rect">
            <a:avLst/>
          </a:prstGeom>
          <a:solidFill>
            <a:srgbClr val="E2EFEB"/>
          </a:solidFill>
          <a:ln w="7620">
            <a:solidFill>
              <a:srgbClr val="E2EF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36280" y="2263140"/>
            <a:ext cx="2983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UNCERTAINTY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8253984" y="2862072"/>
            <a:ext cx="31485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差異是否可靠？</a:t>
            </a:r>
            <a:endParaRPr lang="en-US" sz="2300" dirty="0"/>
          </a:p>
        </p:txBody>
      </p:sp>
      <p:sp>
        <p:nvSpPr>
          <p:cNvPr id="26" name="Text 23"/>
          <p:cNvSpPr/>
          <p:nvPr/>
        </p:nvSpPr>
        <p:spPr>
          <a:xfrm>
            <a:off x="8253984" y="3840480"/>
            <a:ext cx="314858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以case為獨立cluster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重複試驗與paired delta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零事件／小樣本不等於零風險</a:t>
            </a:r>
            <a:endParaRPr 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APPENDIX F / 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09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備查｜設計文件、實作與驗證入口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28216"/>
            <a:ext cx="11109960" cy="0"/>
          </a:xfrm>
          <a:prstGeom prst="line">
            <a:avLst/>
          </a:prstGeom>
          <a:noFill/>
          <a:ln w="12700">
            <a:solidFill>
              <a:srgbClr val="D4DD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879592"/>
            <a:ext cx="50292" cy="411480"/>
          </a:xfrm>
          <a:prstGeom prst="rect">
            <a:avLst/>
          </a:prstGeom>
          <a:solidFill>
            <a:srgbClr val="087F8C"/>
          </a:solidFill>
          <a:ln w="7620">
            <a:solidFill>
              <a:srgbClr val="08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5888736"/>
            <a:ext cx="10899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一份設計基準，連起原始碼、報告與團隊討論。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50138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XIAOAN  /  EVALUATION DESIGN v2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0826496" y="6473952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30 / 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650138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README § versions</a:t>
            </a:r>
            <a:endParaRPr lang="en-US" sz="820" dirty="0"/>
          </a:p>
        </p:txBody>
      </p:sp>
      <p:sp>
        <p:nvSpPr>
          <p:cNvPr id="12" name="Text 9"/>
          <p:cNvSpPr/>
          <p:nvPr/>
        </p:nvSpPr>
        <p:spPr>
          <a:xfrm>
            <a:off x="502920" y="193852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248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502920" y="2889504"/>
            <a:ext cx="3566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evaluation tests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251960" y="193852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292</a:t>
            </a:r>
            <a:endParaRPr lang="en-US" sz="4800" dirty="0"/>
          </a:p>
        </p:txBody>
      </p:sp>
      <p:sp>
        <p:nvSpPr>
          <p:cNvPr id="15" name="Text 12"/>
          <p:cNvSpPr/>
          <p:nvPr/>
        </p:nvSpPr>
        <p:spPr>
          <a:xfrm>
            <a:off x="4251960" y="2889504"/>
            <a:ext cx="3566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multimodel tests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001000" y="193852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87F8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13</a:t>
            </a:r>
            <a:endParaRPr lang="en-US" sz="4800" dirty="0"/>
          </a:p>
        </p:txBody>
      </p:sp>
      <p:sp>
        <p:nvSpPr>
          <p:cNvPr id="17" name="Text 14"/>
          <p:cNvSpPr/>
          <p:nvPr/>
        </p:nvSpPr>
        <p:spPr>
          <a:xfrm>
            <a:off x="8001000" y="2889504"/>
            <a:ext cx="3566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共用修改核心一致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02920" y="3602736"/>
            <a:ext cx="11109960" cy="0"/>
          </a:xfrm>
          <a:prstGeom prst="line">
            <a:avLst/>
          </a:prstGeom>
          <a:noFill/>
          <a:ln w="12700">
            <a:solidFill>
              <a:srgbClr val="D4DDD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" y="3840480"/>
            <a:ext cx="107716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B3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github.com/Kelvin-xing/Xiaoan-evaluation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85800" y="4187952"/>
            <a:ext cx="107716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README.md：完整設計與操作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5800" y="4535424"/>
            <a:ext cx="107716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evaluation/README/measurement-contract-v2.zh-HK.md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85800" y="4882896"/>
            <a:ext cx="107716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docs/research/2026-09-13-evaluation-framework-audit.zh-HK.md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85800" y="5358384"/>
            <a:ext cx="107716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17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離線合成／mock 回歸；不是模型能力成績。PowerPoint含逐頁講稿。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eiti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iti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XiaoAn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XiaoAn｜如何設計能指導改進的 Agent 評估框架</dc:title>
  <dc:subject>Agent evaluation framework design and measurement contract v2</dc:subject>
  <dc:creator>XiaoAn Evaluation</dc:creator>
  <cp:lastModifiedBy>XiaoAn Evaluation</cp:lastModifiedBy>
  <cp:revision>1</cp:revision>
  <dcterms:created xsi:type="dcterms:W3CDTF">2026-09-12T19:55:54Z</dcterms:created>
  <dcterms:modified xsi:type="dcterms:W3CDTF">2026-09-12T19:55:54Z</dcterms:modified>
</cp:coreProperties>
</file>